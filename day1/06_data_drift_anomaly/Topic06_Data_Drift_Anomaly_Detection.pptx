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• 60 MIN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Drift &amp; Unsupervised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smoke alarms so a machine learning model never fails silently in production.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6675120" cy="3291840"/>
          </a:xfrm>
          <a:prstGeom prst="roundRect">
            <a:avLst>
              <a:gd name="adj" fmla="val 3333"/>
            </a:avLst>
          </a:prstGeom>
          <a:solidFill>
            <a:srgbClr val="141C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301752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OUTCOMES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6035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 deployed model quietly loses accuracy over time.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apart Feature Drift, Concept Drift, and Label Drift.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Population Stability Index (PSI) to prove data has shifted.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 Isolation Forest to catch weird records with no labels.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a simple monitoring architecture for production models.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52360" y="2743200"/>
            <a:ext cx="4160520" cy="3291840"/>
          </a:xfrm>
          <a:prstGeom prst="roundRect">
            <a:avLst>
              <a:gd name="adj" fmla="val 3333"/>
            </a:avLst>
          </a:prstGeom>
          <a:solidFill>
            <a:srgbClr val="1B25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0" y="3017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34290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is a snapshot.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world keeps moving.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48920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is how you find out your snapshot is out of date — before your users do.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06 • Data Drift &amp; Anomaly Detection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• THE CORE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models decay in production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train on a snapshot of the world. The world doesn't hold still.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1B25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model that was 95% accurate at training can silently decay to 60% accuracy within 3 months in production.”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2044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world changes, but the model's learned rules don't update themselves.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343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TRIGGERS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663440"/>
            <a:ext cx="5394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&amp; economic shifts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crashes or crises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regulations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 segments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failures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bugs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3200400"/>
            <a:ext cx="5212080" cy="3108960"/>
          </a:xfrm>
          <a:prstGeom prst="roundRect">
            <a:avLst>
              <a:gd name="adj" fmla="val 3529"/>
            </a:avLst>
          </a:prstGeom>
          <a:solidFill>
            <a:srgbClr val="141C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2084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SNAPSHOT ANALOGY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384048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training a model is like taking a photo of a crowd. Months later, the photo still shows the same faces — but the real crowd has changed: new people, new behavior, new context.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keeps trusting the photo will keep making decisions for a crowd that no longer exists.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06 • Data Drift &amp; Anomaly Detection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• TYPES OF DRIFT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data can drift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word, three different failure modes — each needs a different response.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063240" y="1920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92240" y="1920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141C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8026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2331720"/>
            <a:ext cx="1645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Drift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2331720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distribution P(X)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33172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 shift after a pandemic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141C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1742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80160" y="3703320"/>
            <a:ext cx="1645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Drift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3703320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P(Y|X)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70332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signals stop predicting churn as behavior changes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141C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55458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8B84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280160" y="5074920"/>
            <a:ext cx="1645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Drift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063240" y="5074920"/>
            <a:ext cx="3291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distribution P(Y)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507492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doubles during an economic crisis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06 • Data Drift &amp; Anomaly Detection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• MEASURING DRIFT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PSI: putting a number on drift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Stability Index — the industry-standard drift score, especially in banking.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212080" cy="1737360"/>
          </a:xfrm>
          <a:prstGeom prst="roundRect">
            <a:avLst>
              <a:gd name="adj" fmla="val 6316"/>
            </a:avLst>
          </a:prstGeom>
          <a:solidFill>
            <a:srgbClr val="1B25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03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231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PSI = Σ (Actual% − Expected%) × ln(Actual% / Expected%)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71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into buckets, compare the % of records in each bucket between a reference period and today.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920240"/>
            <a:ext cx="5669280" cy="1737360"/>
          </a:xfrm>
          <a:prstGeom prst="roundRect">
            <a:avLst>
              <a:gd name="adj" fmla="val 6316"/>
            </a:avLst>
          </a:prstGeom>
          <a:solidFill>
            <a:srgbClr val="1B25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63640" y="2103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BANKS USE IT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4231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on any feature (income, age, credit score), gives one clean number per feature, and is cheap to run daily across hundreds of columns.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886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141C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48056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88720" y="4434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0.1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92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257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normally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51960" y="425196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141C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26280" y="448056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8B84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92040" y="4434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 – 0.2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4892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shift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5257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feature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55280" y="425196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141C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9600" y="448056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9605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595360" y="4434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0.2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892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shift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5257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the model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06 • Data Drift &amp; Anomaly Detection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• MEASURING DRIFT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more tools worth knowing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 isn't the only way to test whether two distributions differ.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141C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240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TEST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60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Kolmogorov–Smirnov Test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175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test that compares two distributions directly and returns a p-value.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70332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1B254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379476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p_value &lt; 0.05: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print("DRIFT DETECTED")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7091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numeric features, when you want a rigorous statistical yes/no answer.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141C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2240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560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Categorical Features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0175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category counts (e.g. plan type, region) between two time periods.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37960" y="370332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1B25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379476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chi2, p, dof, exp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chi2_contingency(table)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7091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categorical columns where PSI/KS don't apply directly.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06 • Data Drift &amp; Anomaly Detection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C8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• ANOMALY DETECTION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Forest: catching the one weird point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affects a whole dataset. Anomalies are single, impossible data points.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86400" cy="4160520"/>
          </a:xfrm>
          <a:prstGeom prst="roundRect">
            <a:avLst>
              <a:gd name="adj" fmla="val 2637"/>
            </a:avLst>
          </a:prstGeom>
          <a:solidFill>
            <a:srgbClr val="1B25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945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C8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FOREST ANALOGY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6032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you're lost in a forest.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next to a common pine tree, and it takes many random cuts to fence you off from all the other pine trees around you.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next to one neon-pink glowing tree, and a single random cut isolates you immediately.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draws random “cuts” through the data. Points that take very few cuts to isolate are flagged as anomalies.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920240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141C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21488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“UNSUPERVISED”?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46888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needs labeled examples of “normal” vs “anomaly.” It just finds points that are structurally easy to separate from the rest — perfect for real-time production monitoring.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4023360"/>
            <a:ext cx="5303520" cy="2057400"/>
          </a:xfrm>
          <a:prstGeom prst="roundRect">
            <a:avLst>
              <a:gd name="adj" fmla="val 5333"/>
            </a:avLst>
          </a:prstGeom>
          <a:solidFill>
            <a:srgbClr val="1B25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29400" y="42519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45720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contamination  </a:t>
            </a:r>
            <a:pPr indent="0" marL="0">
              <a:buNone/>
            </a:pPr>
            <a:r>
              <a:rPr lang="en-US" sz="12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anomaly rate (e.g. 5%)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49377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  </a:t>
            </a:r>
            <a:pPr indent="0" marL="0">
              <a:buNone/>
            </a:pPr>
            <a:r>
              <a:rPr lang="en-US" sz="12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random trees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5303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 </a:t>
            </a:r>
            <a:pPr indent="0" marL="0">
              <a:buNone/>
            </a:pPr>
            <a:r>
              <a:rPr lang="en-US" sz="125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normal, −1 = anomaly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06 • Data Drift &amp; Anomaly Detection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• PUTTING IT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monitoring architecture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checks and anomaly checks both feed the same alert-and-retrain loop.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B2547"/>
          </a:solidFill>
          <a:ln w="19050">
            <a:solidFill>
              <a:srgbClr val="2A35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031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210312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83280" y="210312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B2547"/>
          </a:solidFill>
          <a:ln w="19050">
            <a:solidFill>
              <a:srgbClr val="2A35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21031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/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Layer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210312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17920" y="210312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B2547"/>
          </a:solidFill>
          <a:ln w="19050">
            <a:solidFill>
              <a:srgbClr val="2A355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21031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&amp; Anomaly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(PSI, KS,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732520" y="210312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052560" y="210312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3A1E28"/>
          </a:solidFill>
          <a:ln w="19050">
            <a:solidFill>
              <a:srgbClr val="E960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0" y="21031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9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9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96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Retrain?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886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CADENCE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5486400" cy="502920"/>
          </a:xfrm>
          <a:prstGeom prst="roundRect">
            <a:avLst>
              <a:gd name="adj" fmla="val 21818"/>
            </a:avLst>
          </a:prstGeom>
          <a:solidFill>
            <a:srgbClr val="141C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" y="4251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10K records / day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4251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batch report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5486400" cy="502920"/>
          </a:xfrm>
          <a:prstGeom prst="roundRect">
            <a:avLst>
              <a:gd name="adj" fmla="val 21818"/>
            </a:avLst>
          </a:prstGeom>
          <a:solidFill>
            <a:srgbClr val="141C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4846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– 1M records / day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4846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batch report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440680"/>
            <a:ext cx="5486400" cy="502920"/>
          </a:xfrm>
          <a:prstGeom prst="roundRect">
            <a:avLst>
              <a:gd name="adj" fmla="val 21818"/>
            </a:avLst>
          </a:prstGeom>
          <a:solidFill>
            <a:srgbClr val="141C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22960" y="5440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1M records / day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657600" y="54406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streaming monitor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3886200"/>
            <a:ext cx="5303520" cy="2514600"/>
          </a:xfrm>
          <a:prstGeom prst="roundRect">
            <a:avLst>
              <a:gd name="adj" fmla="val 4364"/>
            </a:avLst>
          </a:prstGeom>
          <a:solidFill>
            <a:srgbClr val="1B25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29400" y="41148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LOOP, IN WORDS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448056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batch of production data is checked for drift (PSI/KS) and scanned for anomalies (Isolation Forest). When a threshold is crossed, the data science team investigates and decides whether to retrain and deploy a new model version.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06 • Data Drift &amp; Anomaly Detection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•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these five ideas into any production ML system.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141C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9456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4A90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514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model lives forever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718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deployed model without monitoring is a ticking time bomb.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141C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219456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3DDC9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11880" y="2514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drift ≠ concept drift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9718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causes need different responses.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96596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141C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6520" y="219456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E8B8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46520" y="2514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PSI &gt; 0.2 is the alarm bell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9718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universal banking-industry signal to retrain.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52560" y="196596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141C3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281160" y="219456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9C8C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281160" y="2514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Forest needs no labels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281160" y="29718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B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real-time production monitoring.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11064240" cy="2697480"/>
          </a:xfrm>
          <a:prstGeom prst="roundRect">
            <a:avLst>
              <a:gd name="adj" fmla="val 4068"/>
            </a:avLst>
          </a:prstGeom>
          <a:solidFill>
            <a:srgbClr val="1B25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393192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— CHECK YOUR UNDERSTANDING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297680"/>
            <a:ext cx="104241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 global pandemic changes how people spend money overnight. Is this Feature Drift or Concept Drift?</a:t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If your PSI score for “age” is 0.05, should you be worried?</a:t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Why is an Isolation Forest considered an “unsupervised” algorithm?</a:t>
            </a:r>
            <a:endParaRPr lang="en-US" sz="1350" dirty="0"/>
          </a:p>
          <a:p>
            <a:pPr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a “reference window” in drift monitoring?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06 • Data Drift &amp; Anomaly Detection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2026-09-04T17:28:22Z</dcterms:created>
  <dcterms:modified xsi:type="dcterms:W3CDTF">2026-09-04T17:28:22Z</dcterms:modified>
</cp:coreProperties>
</file>