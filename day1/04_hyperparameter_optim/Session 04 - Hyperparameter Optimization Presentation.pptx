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0" y="2011680"/>
            <a:ext cx="3044952" cy="502920"/>
          </a:xfrm>
          <a:prstGeom prst="rect">
            <a:avLst/>
          </a:prstGeom>
          <a:solidFill>
            <a:srgbClr val="2A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0" y="2029968"/>
            <a:ext cx="3044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4FC3F7"/>
                </a:solidFill>
                <a:latin typeface="Calibri"/>
              </a:rPr>
              <a:t>SESSION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Hyperparameter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3601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&amp; Experiment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251960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0AEC4"/>
                </a:solidFill>
                <a:latin typeface="Calibri"/>
              </a:rPr>
              <a:t>Automatically tune model settings with Optuna and track every experiment with MLflow.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4983480"/>
            <a:ext cx="5788152" cy="64008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5001768"/>
            <a:ext cx="5788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FC3F7"/>
                </a:solidFill>
                <a:latin typeface="Calibri"/>
              </a:rPr>
              <a:t>🗓 Day 1    🕐 2:00 PM – 3:00 PM    ⏱ 60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64008" cy="594360"/>
          </a:xfrm>
          <a:prstGeom prst="rect">
            <a:avLst/>
          </a:prstGeom>
          <a:solidFill>
            <a:srgbClr val="5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Session Goals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486400" cy="493776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640080" cy="640080"/>
          </a:xfrm>
          <a:prstGeom prst="rect">
            <a:avLst/>
          </a:prstGeom>
          <a:solidFill>
            <a:srgbClr val="1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481328"/>
            <a:ext cx="6217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Segoe UI Emoji"/>
              </a:rPr>
              <a:t>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86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Core 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8892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0AEC4"/>
                </a:solidFill>
                <a:latin typeface="Calibri"/>
              </a:rPr>
              <a:t>Learn to automatically find the best model settings using intelligent search strategies — moving beyond manual guessing to systematic optimization.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84048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0AEC4"/>
                </a:solidFill>
                <a:latin typeface="Calibri"/>
              </a:rPr>
              <a:t>Pair optimization with MLflow experiment tracking so every trial, metric, and artifact is logged and reproducible.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280160"/>
            <a:ext cx="5486400" cy="493776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92240" y="1508760"/>
            <a:ext cx="640080" cy="640080"/>
          </a:xfrm>
          <a:prstGeom prst="rect">
            <a:avLst/>
          </a:prstGeom>
          <a:solidFill>
            <a:srgbClr val="1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1384" y="1481328"/>
            <a:ext cx="6217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Segoe UI Emoji"/>
              </a:rPr>
              <a:t>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86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Key Learning Outcomes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7889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0AEC4"/>
                </a:solidFill>
                <a:latin typeface="Calibri"/>
              </a:rPr>
              <a:t>By the end of this 60-minute session, you will be able to: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27355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FC3F7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3273552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Distinguish hyperparameters from learned model parameters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73075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FC3F7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3730752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Implement Bayesian Optimization with Optuna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18795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FC3F7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4187952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Track experiments and artifacts with MLflow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64515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FC3F7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4645152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Analyze results with parallel coordinates &amp; importance plots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64008" cy="594360"/>
          </a:xfrm>
          <a:prstGeom prst="rect">
            <a:avLst/>
          </a:prstGeom>
          <a:solidFill>
            <a:srgbClr val="5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Hyperparameters vs. Model Parameters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5486400" cy="502920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63040"/>
            <a:ext cx="640080" cy="640080"/>
          </a:xfrm>
          <a:prstGeom prst="rect">
            <a:avLst/>
          </a:prstGeom>
          <a:solidFill>
            <a:srgbClr val="1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444752"/>
            <a:ext cx="6217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Segoe UI Emoji"/>
              </a:rPr>
              <a:t>⚙️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402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FC3F7"/>
                </a:solidFill>
                <a:latin typeface="Calibri"/>
              </a:rPr>
              <a:t>Hyperparameter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2491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0AEC4"/>
                </a:solidFill>
                <a:latin typeface="Calibri"/>
              </a:rPr>
              <a:t>YOU set it BEFORE training starts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546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FC3F7"/>
                </a:solidFill>
                <a:latin typeface="Consolas"/>
              </a:rPr>
              <a:t>  learning_rate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387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FC3F7"/>
                </a:solidFill>
                <a:latin typeface="Consolas"/>
              </a:rPr>
              <a:t>  max_depth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92277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FC3F7"/>
                </a:solidFill>
                <a:latin typeface="Consolas"/>
              </a:rPr>
              <a:t>  n_estimators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30682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FC3F7"/>
                </a:solidFill>
                <a:latin typeface="Consolas"/>
              </a:rPr>
              <a:t>  min_samples_split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69087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FC3F7"/>
                </a:solidFill>
                <a:latin typeface="Consolas"/>
              </a:rPr>
              <a:t>  regularization (C, λ)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19379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9800"/>
                </a:solidFill>
                <a:latin typeface="Calibri"/>
              </a:rPr>
              <a:t>💡  Controls the learning process — tuning these is what optimization is all about!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234440"/>
            <a:ext cx="5486400" cy="502920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463040"/>
            <a:ext cx="640080" cy="640080"/>
          </a:xfrm>
          <a:prstGeom prst="rect">
            <a:avLst/>
          </a:prstGeom>
          <a:solidFill>
            <a:srgbClr val="1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1444752"/>
            <a:ext cx="6217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Segoe UI Emoji"/>
              </a:rPr>
              <a:t>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2402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7986CB"/>
                </a:solidFill>
                <a:latin typeface="Calibri"/>
              </a:rPr>
              <a:t>Model Parameter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72491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0AEC4"/>
                </a:solidFill>
                <a:latin typeface="Calibri"/>
              </a:rPr>
              <a:t>The ALGORITHM learns these from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15468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986CB"/>
                </a:solidFill>
                <a:latin typeface="Consolas"/>
              </a:rPr>
              <a:t>  weights (neural network)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53872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986CB"/>
                </a:solidFill>
                <a:latin typeface="Consolas"/>
              </a:rPr>
              <a:t>  split thresholds (trees)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92277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986CB"/>
                </a:solidFill>
                <a:latin typeface="Consolas"/>
              </a:rPr>
              <a:t>  biases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30682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986CB"/>
                </a:solidFill>
                <a:latin typeface="Consolas"/>
              </a:rPr>
              <a:t>  coefficients (linear models)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69087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986CB"/>
                </a:solidFill>
                <a:latin typeface="Consolas"/>
              </a:rPr>
              <a:t>  cluster centroids (k-means)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19379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9800"/>
                </a:solidFill>
                <a:latin typeface="Calibri"/>
              </a:rPr>
              <a:t>💡  You never set these manually — they emerge during training.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64008" cy="594360"/>
          </a:xfrm>
          <a:prstGeom prst="rect">
            <a:avLst/>
          </a:prstGeom>
          <a:solidFill>
            <a:srgbClr val="5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Search Strategies Compared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3703320" cy="498348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Segoe UI Emoji"/>
              </a:rPr>
              <a:t>🔲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508760"/>
            <a:ext cx="1097280" cy="347472"/>
          </a:xfrm>
          <a:prstGeom prst="rect">
            <a:avLst/>
          </a:prstGeom>
          <a:solidFill>
            <a:srgbClr val="2A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5087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9800"/>
                </a:solidFill>
                <a:latin typeface="Calibri"/>
              </a:rPr>
              <a:t>Exhaustive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Grid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EC4"/>
                </a:solidFill>
                <a:latin typeface="Calibri"/>
              </a:rPr>
              <a:t>Tries EVERY combination of values in a predefined grid.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AF50"/>
                </a:solidFill>
                <a:latin typeface="Calibri"/>
              </a:rPr>
              <a:t>✅ Pros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1188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AF50"/>
                </a:solidFill>
                <a:latin typeface="Calibr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1188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EC4"/>
                </a:solidFill>
                <a:latin typeface="Calibri"/>
              </a:rPr>
              <a:t>Thorough — misses nothing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800"/>
                </a:solidFill>
                <a:latin typeface="Calibri"/>
              </a:rPr>
              <a:t>⚠️ Cons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634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800"/>
                </a:solidFill>
                <a:latin typeface="Calibr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6344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EC4"/>
                </a:solidFill>
                <a:latin typeface="Calibri"/>
              </a:rPr>
              <a:t>Exponential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01091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800"/>
                </a:solidFill>
                <a:latin typeface="Calibr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10912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EC4"/>
                </a:solidFill>
                <a:latin typeface="Calibri"/>
              </a:rPr>
              <a:t>Slow with many params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9392" y="1234440"/>
            <a:ext cx="3703320" cy="498348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62272" y="14173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Segoe UI Emoji"/>
              </a:rPr>
              <a:t>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93792" y="1508760"/>
            <a:ext cx="1097280" cy="347472"/>
          </a:xfrm>
          <a:prstGeom prst="rect">
            <a:avLst/>
          </a:prstGeom>
          <a:solidFill>
            <a:srgbClr val="2A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93792" y="15087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FC3F7"/>
                </a:solidFill>
                <a:latin typeface="Calibri"/>
              </a:rPr>
              <a:t>Faster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2272" y="1965960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Random 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62272" y="246888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EC4"/>
                </a:solidFill>
                <a:latin typeface="Calibri"/>
              </a:rPr>
              <a:t>Randomly samples combinations from the search space.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2272" y="324612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AF50"/>
                </a:solidFill>
                <a:latin typeface="Calibri"/>
              </a:rPr>
              <a:t>✅ Pros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2272" y="361188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AF50"/>
                </a:solidFill>
                <a:latin typeface="Calibr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36592" y="361188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EC4"/>
                </a:solidFill>
                <a:latin typeface="Calibri"/>
              </a:rPr>
              <a:t>Often beats grid 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2272" y="395935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AF50"/>
                </a:solidFill>
                <a:latin typeface="Calibr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36592" y="3959352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EC4"/>
                </a:solidFill>
                <a:latin typeface="Calibri"/>
              </a:rPr>
              <a:t>Efficient when few params matter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2272" y="429768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800"/>
                </a:solidFill>
                <a:latin typeface="Calibri"/>
              </a:rPr>
              <a:t>⚠️ Cons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2272" y="46634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800"/>
                </a:solidFill>
                <a:latin typeface="Calibri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36592" y="466344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EC4"/>
                </a:solidFill>
                <a:latin typeface="Calibri"/>
              </a:rPr>
              <a:t>No learning from past tries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01583" y="1234440"/>
            <a:ext cx="3703320" cy="498348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84463" y="14173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Segoe UI Emoji"/>
              </a:rPr>
              <a:t>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15983" y="1508760"/>
            <a:ext cx="1097280" cy="347472"/>
          </a:xfrm>
          <a:prstGeom prst="rect">
            <a:avLst/>
          </a:prstGeom>
          <a:solidFill>
            <a:srgbClr val="2A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15983" y="15087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CAF50"/>
                </a:solidFill>
                <a:latin typeface="Calibri"/>
              </a:rPr>
              <a:t>Smartest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84463" y="1965960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Bayesian Optimization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84463" y="246888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EC4"/>
                </a:solidFill>
                <a:latin typeface="Calibri"/>
              </a:rPr>
              <a:t>Builds a surrogate model and learns which regions to search next.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84463" y="324612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AF50"/>
                </a:solidFill>
                <a:latin typeface="Calibri"/>
              </a:rPr>
              <a:t>✅ Pros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4463" y="361188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AF50"/>
                </a:solidFill>
                <a:latin typeface="Calibri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58783" y="361188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EC4"/>
                </a:solidFill>
                <a:latin typeface="Calibri"/>
              </a:rPr>
              <a:t>Learns from every trial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84463" y="395935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AF50"/>
                </a:solidFill>
                <a:latin typeface="Calibri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58783" y="3959352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EC4"/>
                </a:solidFill>
                <a:latin typeface="Calibri"/>
              </a:rPr>
              <a:t>Best for expensive training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84463" y="429768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800"/>
                </a:solidFill>
                <a:latin typeface="Calibri"/>
              </a:rPr>
              <a:t>⚠️ Cons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84463" y="46634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800"/>
                </a:solidFill>
                <a:latin typeface="Calibri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58783" y="4663440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EC4"/>
                </a:solidFill>
                <a:latin typeface="Calibri"/>
              </a:rPr>
              <a:t>Slightly more complex setup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6263640"/>
            <a:ext cx="11274552" cy="411480"/>
          </a:xfrm>
          <a:prstGeom prst="rect">
            <a:avLst/>
          </a:prstGeom>
          <a:solidFill>
            <a:srgbClr val="2A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62636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FC3F7"/>
                </a:solidFill>
                <a:latin typeface="Calibri"/>
              </a:rPr>
              <a:t>💡  Rule of thumb: Random search beats grid when only 2–3 hyperparameters matter. Bayesian wins for expensive training runs.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64008" cy="594360"/>
          </a:xfrm>
          <a:prstGeom prst="rect">
            <a:avLst/>
          </a:prstGeom>
          <a:solidFill>
            <a:srgbClr val="5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How Optuna Works — Bayesian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0AEC4"/>
                </a:solidFill>
                <a:latin typeface="Calibri"/>
              </a:rPr>
              <a:t>Optuna learns from every trial to propose smarter settings next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2148840" cy="338328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502920" cy="502920"/>
          </a:xfrm>
          <a:prstGeom prst="rect">
            <a:avLst/>
          </a:prstGeom>
          <a:solidFill>
            <a:srgbClr val="5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128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Define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1874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EC4"/>
                </a:solidFill>
                <a:latin typeface="Calibri"/>
              </a:rPr>
              <a:t>Write a function that takes a trial object and returns a score (e.g. AUC).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011680"/>
            <a:ext cx="292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FC3F7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07208" y="1417320"/>
            <a:ext cx="2148840" cy="338328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90088" y="1600200"/>
            <a:ext cx="502920" cy="502920"/>
          </a:xfrm>
          <a:prstGeom prst="rect">
            <a:avLst/>
          </a:prstGeom>
          <a:solidFill>
            <a:srgbClr val="5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0088" y="16002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0088" y="22128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Suggest Params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2743200"/>
            <a:ext cx="1874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EC4"/>
                </a:solidFill>
                <a:latin typeface="Calibri"/>
              </a:rPr>
              <a:t>Trial suggests values:  n_estimators, max_depth, min_samples_split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1768" y="2011680"/>
            <a:ext cx="292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FC3F7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57216" y="1417320"/>
            <a:ext cx="2148840" cy="338328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40096" y="1600200"/>
            <a:ext cx="502920" cy="502920"/>
          </a:xfrm>
          <a:prstGeom prst="rect">
            <a:avLst/>
          </a:prstGeom>
          <a:solidFill>
            <a:srgbClr val="5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0096" y="16002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0096" y="22128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Train &amp; Evaluate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0096" y="2743200"/>
            <a:ext cx="1874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EC4"/>
                </a:solidFill>
                <a:latin typeface="Calibri"/>
              </a:rPr>
              <a:t>Train model on training data, evaluate with cross-validation. Return score.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51776" y="2011680"/>
            <a:ext cx="292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FC3F7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07224" y="1417320"/>
            <a:ext cx="2148840" cy="338328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90104" y="1600200"/>
            <a:ext cx="502920" cy="502920"/>
          </a:xfrm>
          <a:prstGeom prst="rect">
            <a:avLst/>
          </a:prstGeom>
          <a:solidFill>
            <a:srgbClr val="5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90104" y="16002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0104" y="22128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Optuna Learns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0104" y="2743200"/>
            <a:ext cx="1874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EC4"/>
                </a:solidFill>
                <a:latin typeface="Calibri"/>
              </a:rPr>
              <a:t>Optuna fits a surrogate model (TPE) to decide which region to sample next.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01784" y="2011680"/>
            <a:ext cx="292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FC3F7"/>
                </a:solidFill>
                <a:latin typeface="Calibr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57232" y="1417320"/>
            <a:ext cx="2148840" cy="338328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040112" y="1600200"/>
            <a:ext cx="502920" cy="502920"/>
          </a:xfrm>
          <a:prstGeom prst="rect">
            <a:avLst/>
          </a:prstGeom>
          <a:solidFill>
            <a:srgbClr val="5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40112" y="16002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40112" y="22128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Repeat N Trials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40112" y="2743200"/>
            <a:ext cx="1874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EC4"/>
                </a:solidFill>
                <a:latin typeface="Calibri"/>
              </a:rPr>
              <a:t>After n_trials, retrieve study.best_params  and  study.best_value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937760"/>
            <a:ext cx="11274552" cy="169164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029200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FC3F7"/>
                </a:solidFill>
                <a:latin typeface="Consolas"/>
              </a:rPr>
              <a:t>study = optuna.create_study(direction='maximize')
study.optimize(objective, n_trials=50)          # Runs 50 smart trials
print('Best AUC:', study.best_value)             # e.g. 0.9673
print('Best Params:', study.best_params)          # e.g. {'n_estimators': 222, ...}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64008" cy="594360"/>
          </a:xfrm>
          <a:prstGeom prst="rect">
            <a:avLst/>
          </a:prstGeom>
          <a:solidFill>
            <a:srgbClr val="5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Optuna: Writing the Objective Function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6858000" cy="539496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6492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FC3F7"/>
                </a:solidFill>
                <a:latin typeface="Consolas"/>
              </a:rPr>
              <a:t>def objective(trial):</a:t>
            </a:r>
          </a:p>
          <a:p>
            <a:pPr algn="l"/>
            <a:r>
              <a:rPr sz="1300" b="0">
                <a:solidFill>
                  <a:srgbClr val="4FC3F7"/>
                </a:solidFill>
                <a:latin typeface="Consolas"/>
              </a:rPr>
              <a:t>    # 1. Suggest hyperparameter values</a:t>
            </a:r>
          </a:p>
          <a:p>
            <a:pPr algn="l"/>
            <a:r>
              <a:rPr sz="1300" b="0">
                <a:solidFill>
                  <a:srgbClr val="4FC3F7"/>
                </a:solidFill>
                <a:latin typeface="Consolas"/>
              </a:rPr>
              <a:t>    n_estimators = trial.suggest_int(</a:t>
            </a:r>
          </a:p>
          <a:p>
            <a:pPr algn="l"/>
            <a:r>
              <a:rPr sz="1300" b="0">
                <a:solidFill>
                  <a:srgbClr val="4FC3F7"/>
                </a:solidFill>
                <a:latin typeface="Consolas"/>
              </a:rPr>
              <a:t>        'n_estimators', 50, 500)</a:t>
            </a:r>
          </a:p>
          <a:p>
            <a:pPr algn="l"/>
            <a:r>
              <a:rPr sz="1300" b="0">
                <a:solidFill>
                  <a:srgbClr val="4FC3F7"/>
                </a:solidFill>
                <a:latin typeface="Consolas"/>
              </a:rPr>
              <a:t>    max_depth = trial.suggest_int(</a:t>
            </a:r>
          </a:p>
          <a:p>
            <a:pPr algn="l"/>
            <a:r>
              <a:rPr sz="1300" b="0">
                <a:solidFill>
                  <a:srgbClr val="4FC3F7"/>
                </a:solidFill>
                <a:latin typeface="Consolas"/>
              </a:rPr>
              <a:t>        'max_depth', 2, 20)</a:t>
            </a:r>
          </a:p>
          <a:p>
            <a:pPr algn="l"/>
            <a:r>
              <a:rPr sz="1300" b="0">
                <a:solidFill>
                  <a:srgbClr val="4FC3F7"/>
                </a:solidFill>
                <a:latin typeface="Consolas"/>
              </a:rPr>
              <a:t>    min_samples_split = trial.suggest_int(</a:t>
            </a:r>
          </a:p>
          <a:p>
            <a:pPr algn="l"/>
            <a:r>
              <a:rPr sz="1300" b="0">
                <a:solidFill>
                  <a:srgbClr val="4FC3F7"/>
                </a:solidFill>
                <a:latin typeface="Consolas"/>
              </a:rPr>
              <a:t>        'min_samples_split', 2, 20)</a:t>
            </a:r>
          </a:p>
          <a:p>
            <a:pPr algn="l"/>
            <a:r>
              <a:rPr sz="1300"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4FC3F7"/>
                </a:solidFill>
                <a:latin typeface="Consolas"/>
              </a:rPr>
              <a:t>    # 2. Build the model with suggested values</a:t>
            </a:r>
          </a:p>
          <a:p>
            <a:pPr algn="l"/>
            <a:r>
              <a:rPr sz="1300" b="0">
                <a:solidFill>
                  <a:srgbClr val="4FC3F7"/>
                </a:solidFill>
                <a:latin typeface="Consolas"/>
              </a:rPr>
              <a:t>    clf = RandomForestClassifier(</a:t>
            </a:r>
          </a:p>
          <a:p>
            <a:pPr algn="l"/>
            <a:r>
              <a:rPr sz="1300" b="0">
                <a:solidFill>
                  <a:srgbClr val="4FC3F7"/>
                </a:solidFill>
                <a:latin typeface="Consolas"/>
              </a:rPr>
              <a:t>        n_estimators=n_estimators,</a:t>
            </a:r>
          </a:p>
          <a:p>
            <a:pPr algn="l"/>
            <a:r>
              <a:rPr sz="1300" b="0">
                <a:solidFill>
                  <a:srgbClr val="4FC3F7"/>
                </a:solidFill>
                <a:latin typeface="Consolas"/>
              </a:rPr>
              <a:t>        max_depth=max_depth,</a:t>
            </a:r>
          </a:p>
          <a:p>
            <a:pPr algn="l"/>
            <a:r>
              <a:rPr sz="1300" b="0">
                <a:solidFill>
                  <a:srgbClr val="4FC3F7"/>
                </a:solidFill>
                <a:latin typeface="Consolas"/>
              </a:rPr>
              <a:t>        min_samples_split=min_samples_split,</a:t>
            </a:r>
          </a:p>
          <a:p>
            <a:pPr algn="l"/>
            <a:r>
              <a:rPr sz="1300" b="0">
                <a:solidFill>
                  <a:srgbClr val="4FC3F7"/>
                </a:solidFill>
                <a:latin typeface="Consolas"/>
              </a:rPr>
              <a:t>        random_state=42)</a:t>
            </a:r>
          </a:p>
          <a:p>
            <a:pPr algn="l"/>
            <a:r>
              <a:rPr sz="1300"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4FC3F7"/>
                </a:solidFill>
                <a:latin typeface="Consolas"/>
              </a:rPr>
              <a:t>    # 3. Evaluate — NEVER on the test set!</a:t>
            </a:r>
          </a:p>
          <a:p>
            <a:pPr algn="l"/>
            <a:r>
              <a:rPr sz="1300" b="0">
                <a:solidFill>
                  <a:srgbClr val="4FC3F7"/>
                </a:solidFill>
                <a:latin typeface="Consolas"/>
              </a:rPr>
              <a:t>    return cross_val_score(</a:t>
            </a:r>
          </a:p>
          <a:p>
            <a:pPr algn="l"/>
            <a:r>
              <a:rPr sz="1300" b="0">
                <a:solidFill>
                  <a:srgbClr val="4FC3F7"/>
                </a:solidFill>
                <a:latin typeface="Consolas"/>
              </a:rPr>
              <a:t>        clf, X_train, y_train,</a:t>
            </a:r>
          </a:p>
          <a:p>
            <a:pPr algn="l"/>
            <a:r>
              <a:rPr sz="1300" b="0">
                <a:solidFill>
                  <a:srgbClr val="4FC3F7"/>
                </a:solidFill>
                <a:latin typeface="Consolas"/>
              </a:rPr>
              <a:t>        cv=5, scoring='roc_auc').mean()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0" y="1234440"/>
            <a:ext cx="4114800" cy="539496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4173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Key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19202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C3F7"/>
                </a:solidFill>
                <a:latin typeface="Consolas"/>
              </a:rPr>
              <a:t>trial.suggest_int()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267712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EC4"/>
                </a:solidFill>
                <a:latin typeface="Calibri"/>
              </a:rPr>
              <a:t>Suggest an integer. Use suggest_float() for continuous values.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27889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C3F7"/>
                </a:solidFill>
                <a:latin typeface="Consolas"/>
              </a:rPr>
              <a:t>cross_val_score()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3136392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EC4"/>
                </a:solidFill>
                <a:latin typeface="Calibri"/>
              </a:rPr>
              <a:t>Always evaluate on held-out folds — never on the test set!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36576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C3F7"/>
                </a:solidFill>
                <a:latin typeface="Consolas"/>
              </a:rPr>
              <a:t>Return the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4005072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EC4"/>
                </a:solidFill>
                <a:latin typeface="Calibri"/>
              </a:rPr>
              <a:t>Optuna maximises/minimises whatever value you return.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4526279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C3F7"/>
                </a:solidFill>
                <a:latin typeface="Consolas"/>
              </a:rPr>
              <a:t>n_trials=50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4873751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EC4"/>
                </a:solidFill>
                <a:latin typeface="Calibri"/>
              </a:rPr>
              <a:t>Start with 50 trials; increase for more complex models.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539496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C3F7"/>
                </a:solidFill>
                <a:latin typeface="Consolas"/>
              </a:rPr>
              <a:t>study.best_params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5742432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EC4"/>
                </a:solidFill>
                <a:latin typeface="Calibri"/>
              </a:rPr>
              <a:t>After optimisation, retrieve the winner configuration.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64008" cy="594360"/>
          </a:xfrm>
          <a:prstGeom prst="rect">
            <a:avLst/>
          </a:prstGeom>
          <a:solidFill>
            <a:srgbClr val="5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Optuna Visualizations — Reading the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5303520" cy="246888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Segoe UI Emoji"/>
              </a:rPr>
              <a:t>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399032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Optimization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928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FC3F7"/>
                </a:solidFill>
                <a:latin typeface="Consolas"/>
              </a:rPr>
              <a:t>plot_optimization_history(study)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EC4"/>
                </a:solidFill>
                <a:latin typeface="Calibri"/>
              </a:rPr>
              <a:t>Shows how the best score improved trial by trial. Expect a rapid rise then plateau.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234440"/>
            <a:ext cx="5303520" cy="246888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Segoe UI Emoji"/>
              </a:rP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399032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Param Importances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928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FC3F7"/>
                </a:solidFill>
                <a:latin typeface="Consolas"/>
              </a:rPr>
              <a:t>plot_param_importances(study)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8600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EC4"/>
                </a:solidFill>
                <a:latin typeface="Calibri"/>
              </a:rPr>
              <a:t>Bar chart ranking each hyperparameter by its impact on the objective score.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114800"/>
            <a:ext cx="5303520" cy="246888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2519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Segoe UI Emoji"/>
              </a:rPr>
              <a:t>〰️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279392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Parallel Coordinates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731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FC3F7"/>
                </a:solidFill>
                <a:latin typeface="Consolas"/>
              </a:rPr>
              <a:t>plot_parallel_coordinate(study)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16636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EC4"/>
                </a:solidFill>
                <a:latin typeface="Calibri"/>
              </a:rPr>
              <a:t>Each line = one trial. Bright/yellow lines = high-scoring trials. Spot the winning region.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114800"/>
            <a:ext cx="5303520" cy="246888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2519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Segoe UI Emoji"/>
              </a:rPr>
              <a:t>🌡️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4279392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Contour Plot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7731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FC3F7"/>
                </a:solidFill>
                <a:latin typeface="Consolas"/>
              </a:rPr>
              <a:t>plot_contour(study, params=['max_depth', 'n_estimators'])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16636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EC4"/>
                </a:solidFill>
                <a:latin typeface="Calibri"/>
              </a:rPr>
              <a:t>2D heatmap for any pair of parameters — shows interactions and sweet spots.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64008" cy="594360"/>
          </a:xfrm>
          <a:prstGeom prst="rect">
            <a:avLst/>
          </a:prstGeom>
          <a:solidFill>
            <a:srgbClr val="5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MLflow — Your ML Experiment Journal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0AEC4"/>
                </a:solidFill>
                <a:latin typeface="Calibri"/>
              </a:rPr>
              <a:t>If it's not logged, it's lost. MLflow tracks everything automatically.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6675120" cy="521208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FC3F7"/>
                </a:solidFill>
                <a:latin typeface="Calibri"/>
              </a:rPr>
              <a:t>Log best Optuna results to MLflow: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FC3F7"/>
                </a:solidFill>
                <a:latin typeface="Consolas"/>
              </a:rPr>
              <a:t>mlflow.set_experiment('Bootcamp_Optuna_Experiments')</a:t>
            </a:r>
          </a:p>
          <a:p>
            <a:pPr algn="l"/>
            <a:r>
              <a:rPr sz="1300"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4FC3F7"/>
                </a:solidFill>
                <a:latin typeface="Consolas"/>
              </a:rPr>
              <a:t>with mlflow.start_run(run_name='Best_RF_Model'):</a:t>
            </a:r>
          </a:p>
          <a:p>
            <a:pPr algn="l"/>
            <a:r>
              <a:rPr sz="1300" b="0">
                <a:solidFill>
                  <a:srgbClr val="4FC3F7"/>
                </a:solidFill>
                <a:latin typeface="Consolas"/>
              </a:rPr>
              <a:t>    # 1. Log best hyperparameters</a:t>
            </a:r>
          </a:p>
          <a:p>
            <a:pPr algn="l"/>
            <a:r>
              <a:rPr sz="1300" b="0">
                <a:solidFill>
                  <a:srgbClr val="4FC3F7"/>
                </a:solidFill>
                <a:latin typeface="Consolas"/>
              </a:rPr>
              <a:t>    mlflow.log_params(study.best_params)</a:t>
            </a:r>
          </a:p>
          <a:p>
            <a:pPr algn="l"/>
            <a:r>
              <a:rPr sz="1300"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4FC3F7"/>
                </a:solidFill>
                <a:latin typeface="Consolas"/>
              </a:rPr>
              <a:t>    # 2. Train on full training set</a:t>
            </a:r>
          </a:p>
          <a:p>
            <a:pPr algn="l"/>
            <a:r>
              <a:rPr sz="1300" b="0">
                <a:solidFill>
                  <a:srgbClr val="4FC3F7"/>
                </a:solidFill>
                <a:latin typeface="Consolas"/>
              </a:rPr>
              <a:t>    best_model = RandomForestClassifier(</a:t>
            </a:r>
          </a:p>
          <a:p>
            <a:pPr algn="l"/>
            <a:r>
              <a:rPr sz="1300" b="0">
                <a:solidFill>
                  <a:srgbClr val="4FC3F7"/>
                </a:solidFill>
                <a:latin typeface="Consolas"/>
              </a:rPr>
              <a:t>        **study.best_params, random_state=42)</a:t>
            </a:r>
          </a:p>
          <a:p>
            <a:pPr algn="l"/>
            <a:r>
              <a:rPr sz="1300" b="0">
                <a:solidFill>
                  <a:srgbClr val="4FC3F7"/>
                </a:solidFill>
                <a:latin typeface="Consolas"/>
              </a:rPr>
              <a:t>    best_model.fit(X_train, y_train)</a:t>
            </a:r>
          </a:p>
          <a:p>
            <a:pPr algn="l"/>
            <a:r>
              <a:rPr sz="1300"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4FC3F7"/>
                </a:solidFill>
                <a:latin typeface="Consolas"/>
              </a:rPr>
              <a:t>    # 3. Log final metric</a:t>
            </a:r>
          </a:p>
          <a:p>
            <a:pPr algn="l"/>
            <a:r>
              <a:rPr sz="1300" b="0">
                <a:solidFill>
                  <a:srgbClr val="4FC3F7"/>
                </a:solidFill>
                <a:latin typeface="Consolas"/>
              </a:rPr>
              <a:t>    mlflow.log_metric('test_auc', final_test_auc)</a:t>
            </a:r>
          </a:p>
          <a:p>
            <a:pPr algn="l"/>
            <a:r>
              <a:rPr sz="1300"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4FC3F7"/>
                </a:solidFill>
                <a:latin typeface="Consolas"/>
              </a:rPr>
              <a:t>    # 4. Save model artifact (auto .pkl)</a:t>
            </a:r>
          </a:p>
          <a:p>
            <a:pPr algn="l"/>
            <a:r>
              <a:rPr sz="1300" b="0">
                <a:solidFill>
                  <a:srgbClr val="4FC3F7"/>
                </a:solidFill>
                <a:latin typeface="Consolas"/>
              </a:rPr>
              <a:t>    mlflow.sklearn.log_model(</a:t>
            </a:r>
          </a:p>
          <a:p>
            <a:pPr algn="l"/>
            <a:r>
              <a:rPr sz="1300" b="0">
                <a:solidFill>
                  <a:srgbClr val="4FC3F7"/>
                </a:solidFill>
                <a:latin typeface="Consolas"/>
              </a:rPr>
              <a:t>        best_model, 'random_forest_model')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1325880"/>
            <a:ext cx="4297680" cy="1097280"/>
          </a:xfrm>
          <a:prstGeom prst="rect">
            <a:avLst/>
          </a:prstGeom>
          <a:solidFill>
            <a:srgbClr val="1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1463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 Emoji"/>
              </a:rPr>
              <a:t>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417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Log Parameters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17830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EC4"/>
                </a:solidFill>
                <a:latin typeface="Calibri"/>
              </a:rPr>
              <a:t>Every hyperparameter value is stored per run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587752"/>
            <a:ext cx="4297680" cy="1097280"/>
          </a:xfrm>
          <a:prstGeom prst="rect">
            <a:avLst/>
          </a:prstGeom>
          <a:solidFill>
            <a:srgbClr val="1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27249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 Emoji"/>
              </a:rPr>
              <a:t>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67919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Log 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04495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EC4"/>
                </a:solidFill>
                <a:latin typeface="Calibri"/>
              </a:rPr>
              <a:t>AUC, accuracy, loss — compare any run side-by-side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3849624"/>
            <a:ext cx="4297680" cy="1097280"/>
          </a:xfrm>
          <a:prstGeom prst="rect">
            <a:avLst/>
          </a:prstGeom>
          <a:solidFill>
            <a:srgbClr val="1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398678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 Emoji"/>
              </a:rPr>
              <a:t>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94106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Log Artifacts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4306824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EC4"/>
                </a:solidFill>
                <a:latin typeface="Calibri"/>
              </a:rPr>
              <a:t>Save the actual .pkl model file automatically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0" y="5111496"/>
            <a:ext cx="4297680" cy="1097280"/>
          </a:xfrm>
          <a:prstGeom prst="rect">
            <a:avLst/>
          </a:prstGeom>
          <a:solidFill>
            <a:srgbClr val="1E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524865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 Emoji"/>
              </a:rPr>
              <a:t>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520293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Model Registry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5568696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EC4"/>
                </a:solidFill>
                <a:latin typeface="Calibri"/>
              </a:rPr>
              <a:t>Promote the best model:  None → Staging → Production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6640" y="6400800"/>
            <a:ext cx="4297680" cy="347472"/>
          </a:xfrm>
          <a:prstGeom prst="rect">
            <a:avLst/>
          </a:prstGeom>
          <a:solidFill>
            <a:srgbClr val="2A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640080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FC3F7"/>
                </a:solidFill>
                <a:latin typeface="Consolas"/>
              </a:rPr>
              <a:t>Run  mlflow ui  then open  http://localhost:5000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64008" cy="594360"/>
          </a:xfrm>
          <a:prstGeom prst="rect">
            <a:avLst/>
          </a:prstGeom>
          <a:solidFill>
            <a:srgbClr val="5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MLflow UI — What You Can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3474720" cy="224028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Segoe UI Emoji"/>
              </a:rPr>
              <a:t>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Compare Runs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24328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EC4"/>
                </a:solidFill>
                <a:latin typeface="Calibri"/>
              </a:rPr>
              <a:t>View all experiments side-by-side. Sort by any metric in seconds.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87952" y="1325880"/>
            <a:ext cx="3474720" cy="224028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70832" y="150876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Segoe UI Emoji"/>
              </a:rPr>
              <a:t>⚗️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0832" y="219456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Filter by Metric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0832" y="2624328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EC4"/>
                </a:solidFill>
                <a:latin typeface="Calibri"/>
              </a:rPr>
              <a:t>Filter runs where  test_auc &gt; 0.95  to focus only on top performers.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18704" y="1325880"/>
            <a:ext cx="3474720" cy="224028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01584" y="150876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Segoe UI Emoji"/>
              </a:rPr>
              <a:t>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4" y="219456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Download Artifacts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4" y="2624328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EC4"/>
                </a:solidFill>
                <a:latin typeface="Calibri"/>
              </a:rPr>
              <a:t>Download logged .pkl models, charts, or any saved file.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94760"/>
            <a:ext cx="3474720" cy="224028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7764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Segoe UI Emoji"/>
              </a:rPr>
              <a:t>🏷️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66344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Model Registry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93208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EC4"/>
                </a:solidFill>
                <a:latin typeface="Calibri"/>
              </a:rPr>
              <a:t>Promote your best model through lifecycle stages: None → Staging → Production → Archived.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87952" y="3794760"/>
            <a:ext cx="3474720" cy="224028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0832" y="397764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Segoe UI Emoji"/>
              </a:rP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0832" y="466344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Parameter Charts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0832" y="5093208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EC4"/>
                </a:solidFill>
                <a:latin typeface="Calibri"/>
              </a:rPr>
              <a:t>Visualize how each hyperparameter relates to the final metric score.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18704" y="3794760"/>
            <a:ext cx="3474720" cy="224028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01584" y="397764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Segoe UI Emoji"/>
              </a:rPr>
              <a:t>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01584" y="466344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Reproduce Any Run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01584" y="5093208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EC4"/>
                </a:solidFill>
                <a:latin typeface="Calibri"/>
              </a:rPr>
              <a:t>Re-run any experiment by clicking its run ID — all params are saved.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64008" cy="594360"/>
          </a:xfrm>
          <a:prstGeom prst="rect">
            <a:avLst/>
          </a:prstGeom>
          <a:solidFill>
            <a:srgbClr val="5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Best Practices — Do's &amp; Don'ts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5486400" cy="160020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904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 Emoji"/>
              </a:rPr>
              <a:t>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463040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CAF50"/>
                </a:solidFill>
                <a:latin typeface="Calibri"/>
              </a:rPr>
              <a:t>Never tune on the test 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EC4"/>
                </a:solidFill>
                <a:latin typeface="Calibri"/>
              </a:rPr>
              <a:t>Use cross-validation (cv=5) on the training data. Test set = final evaluation only.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325880"/>
            <a:ext cx="5486400" cy="160020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4904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 Emoji"/>
              </a:rP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1463040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CAF50"/>
                </a:solidFill>
                <a:latin typeface="Calibri"/>
              </a:rPr>
              <a:t>Log everything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EC4"/>
                </a:solidFill>
                <a:latin typeface="Calibri"/>
              </a:rPr>
              <a:t>You WILL forget your best config. If it's not in MLflow, it doesn't exist.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08960"/>
            <a:ext cx="5486400" cy="160020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32735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 Emoji"/>
              </a:rP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246120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CAF50"/>
                </a:solidFill>
                <a:latin typeface="Calibri"/>
              </a:rPr>
              <a:t>Set n_trials based on budget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70332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EC4"/>
                </a:solidFill>
                <a:latin typeface="Calibri"/>
              </a:rPr>
              <a:t>Start with 20–50 trials for quick experiments. Scale to 200+ for production searches.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108960"/>
            <a:ext cx="5486400" cy="160020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32735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 Emoji"/>
              </a:rP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3246120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CAF50"/>
                </a:solidFill>
                <a:latin typeface="Calibri"/>
              </a:rPr>
              <a:t>Use nested cross-validation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70332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EC4"/>
                </a:solidFill>
                <a:latin typeface="Calibri"/>
              </a:rPr>
              <a:t>Prevents overfitting to the validation set and gives an unbiased performance estimate.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892040"/>
            <a:ext cx="5486400" cy="160020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50566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 Emoji"/>
              </a:rPr>
              <a:t>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9800"/>
                </a:solidFill>
                <a:latin typeface="Calibri"/>
              </a:rPr>
              <a:t>Don't guess hyperparameters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48640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EC4"/>
                </a:solidFill>
                <a:latin typeface="Calibri"/>
              </a:rPr>
              <a:t>Manual tuning is inefficient. Even random search beats human intuition reliably.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4892040"/>
            <a:ext cx="5486400" cy="160020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2" y="50566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 Emoji"/>
              </a:rPr>
              <a:t>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5029200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9800"/>
                </a:solidFill>
                <a:latin typeface="Calibri"/>
              </a:rPr>
              <a:t>Don't skip experiment tracking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48640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EC4"/>
                </a:solidFill>
                <a:latin typeface="Calibri"/>
              </a:rPr>
              <a:t>Without tracking, you can't reproduce results, compare runs, or explain your model.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64008" cy="594360"/>
          </a:xfrm>
          <a:prstGeom prst="rect">
            <a:avLst/>
          </a:prstGeom>
          <a:solidFill>
            <a:srgbClr val="5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4552" cy="91440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 Emoji"/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35331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Don't Guess — Optimize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353312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0AEC4"/>
                </a:solidFill>
                <a:latin typeface="Calibri"/>
              </a:rPr>
              <a:t>Use Optuna to systematically search hyperparameter space. It gets smarter with every trial.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12848"/>
            <a:ext cx="11274552" cy="18288"/>
          </a:xfrm>
          <a:prstGeom prst="rect">
            <a:avLst/>
          </a:prstGeom>
          <a:solidFill>
            <a:srgbClr val="283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331720"/>
            <a:ext cx="11274552" cy="91440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 Emoji"/>
              </a:rPr>
              <a:t>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40487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Bayesian &gt; Grid &gt; Random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404872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0AEC4"/>
                </a:solidFill>
                <a:latin typeface="Calibri"/>
              </a:rPr>
              <a:t>Bayesian Optimization (Optuna) learns from past trials and focuses on promising regions.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64408"/>
            <a:ext cx="11274552" cy="18288"/>
          </a:xfrm>
          <a:prstGeom prst="rect">
            <a:avLst/>
          </a:prstGeom>
          <a:solidFill>
            <a:srgbClr val="283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383279"/>
            <a:ext cx="11274552" cy="91440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52043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 Emoji"/>
              </a:rPr>
              <a:t>🛡️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456431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Never Tune on the Test 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456431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0AEC4"/>
                </a:solidFill>
                <a:latin typeface="Calibri"/>
              </a:rPr>
              <a:t>Use cross-validation to guide optimization. The test set is for the final performance report only.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315967"/>
            <a:ext cx="11274552" cy="18288"/>
          </a:xfrm>
          <a:prstGeom prst="rect">
            <a:avLst/>
          </a:prstGeom>
          <a:solidFill>
            <a:srgbClr val="283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434840"/>
            <a:ext cx="11274552" cy="91440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572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 Emoji"/>
              </a:rPr>
              <a:t>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50799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Track Everything with MLflow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507992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0AEC4"/>
                </a:solidFill>
                <a:latin typeface="Calibri"/>
              </a:rPr>
              <a:t>Experiment tracking is to ML what version control is to software — use it always.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367528"/>
            <a:ext cx="11274552" cy="18288"/>
          </a:xfrm>
          <a:prstGeom prst="rect">
            <a:avLst/>
          </a:prstGeom>
          <a:solidFill>
            <a:srgbClr val="283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486400"/>
            <a:ext cx="11274552" cy="91440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6235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 Emoji"/>
              </a:rPr>
              <a:t>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55955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MLflow Model Registry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5559552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0AEC4"/>
                </a:solidFill>
                <a:latin typeface="Calibri"/>
              </a:rPr>
              <a:t>Formalises the path from experiment → staging → production, with full audit trail.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64008" cy="594360"/>
          </a:xfrm>
          <a:prstGeom prst="rect">
            <a:avLst/>
          </a:prstGeom>
          <a:solidFill>
            <a:srgbClr val="5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Quick Reference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0AEC4"/>
                </a:solidFill>
                <a:latin typeface="Calibri"/>
              </a:rPr>
              <a:t>Check your understanding before the next session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4552" cy="86868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36192"/>
            <a:ext cx="594360" cy="530352"/>
          </a:xfrm>
          <a:prstGeom prst="rect">
            <a:avLst/>
          </a:prstGeom>
          <a:solidFill>
            <a:srgbClr val="5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36192"/>
            <a:ext cx="594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55448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Is  learning_rate  a model parameter or a hyperparameter? Why?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77440"/>
            <a:ext cx="11274552" cy="86868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542032"/>
            <a:ext cx="594360" cy="530352"/>
          </a:xfrm>
          <a:prstGeom prst="rect">
            <a:avLst/>
          </a:prstGeom>
          <a:solidFill>
            <a:srgbClr val="5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542032"/>
            <a:ext cx="594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56032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Why does Bayesian Optimization (Optuna) outperform Grid Search in most real scenarios?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83280"/>
            <a:ext cx="11274552" cy="86868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547872"/>
            <a:ext cx="594360" cy="530352"/>
          </a:xfrm>
          <a:prstGeom prst="rect">
            <a:avLst/>
          </a:prstGeom>
          <a:solidFill>
            <a:srgbClr val="5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547872"/>
            <a:ext cx="594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5661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What is 'overfitting the validation set' and how does nested cross-validation prevent it?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89120"/>
            <a:ext cx="11274552" cy="86868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553712"/>
            <a:ext cx="594360" cy="530352"/>
          </a:xfrm>
          <a:prstGeom prst="rect">
            <a:avLst/>
          </a:prstGeom>
          <a:solidFill>
            <a:srgbClr val="5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553712"/>
            <a:ext cx="594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57200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What terminal command launches the MLflow dashboard? What URL do you open?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394960"/>
            <a:ext cx="11274552" cy="868680"/>
          </a:xfrm>
          <a:prstGeom prst="rect">
            <a:avLst/>
          </a:prstGeom>
          <a:solidFill>
            <a:srgbClr val="17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5559552"/>
            <a:ext cx="594360" cy="530352"/>
          </a:xfrm>
          <a:prstGeom prst="rect">
            <a:avLst/>
          </a:prstGeom>
          <a:solidFill>
            <a:srgbClr val="54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559552"/>
            <a:ext cx="594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Q5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557784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Name 3 things you should always log during a model training experiment.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