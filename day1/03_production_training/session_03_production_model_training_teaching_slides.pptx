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D69BE"/>
                </a:solidFill>
              </a:rPr>
              <a:t>Session 03</a:t>
            </a:r>
          </a:p>
          <a:p>
            <a:r>
              <a:rPr sz="4000" b="1">
                <a:solidFill>
                  <a:srgbClr val="142037"/>
                </a:solidFill>
              </a:rPr>
              <a:t>Production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4231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A6473"/>
                </a:solidFill>
              </a:rPr>
              <a:t>Day 1  •  11:00 AM–12:00 PM  •  60 minutes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703320"/>
            <a:ext cx="3337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3840480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Today’s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270248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 model is not production-ready just because it predicts accurately.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703320"/>
            <a:ext cx="3337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3840480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1" y="4270248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Reproducible training: config → data → features → train → evaluate → artifacts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3703320"/>
            <a:ext cx="3337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3840480"/>
            <a:ext cx="3008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1" y="4270248"/>
            <a:ext cx="300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Students can run, inspect, modify and explain the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By the end of 60 minutes, learners should be able to…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1E232D"/>
                </a:solidFill>
              </a:rPr>
              <a:t>Explain why configuration, logging and artifacts matter for reproducibility.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E232D"/>
                </a:solidFill>
              </a:rPr>
              <a:t>Read a compact training pipeline and map each script to a production responsibility.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E232D"/>
                </a:solidFill>
              </a:rPr>
              <a:t>Run the end-to-end CLI and identify the model, metrics and log outputs.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E232D"/>
                </a:solidFill>
              </a:rPr>
              <a:t>Change a configuration value and reason about the effect on the experiment.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1E232D"/>
                </a:solidFill>
              </a:rPr>
              <a:t>Explain where preprocessing belongs and why it must be consistent between training and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Notebook thinking vs production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The goal is not to stop using notebooks — it is to move repeatable logic into testable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2578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54480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Notebook-first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984248"/>
            <a:ext cx="492861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Cells run in an order chosen by the user.
State can remain hidden in memory.
Parameters may be changed manually.
Results may be copied into a report.
Good for exploration and teaching.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25780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554480"/>
            <a:ext cx="4928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Production-style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1984248"/>
            <a:ext cx="4928616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One command defines the run.
Config records important parameters.
Functions/modules have clear responsibilities.
Artifacts are saved automatically.
Logs explain what happened.
Good for repeatability and handover.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The production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Think of training as a controlled data-to-artifact transformation.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1.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Load / create dataset</a:t>
            </a:r>
          </a:p>
        </p:txBody>
      </p:sp>
      <p:sp>
        <p:nvSpPr>
          <p:cNvPr id="7" name="Chevron 6"/>
          <p:cNvSpPr/>
          <p:nvPr/>
        </p:nvSpPr>
        <p:spPr>
          <a:xfrm>
            <a:off x="2215896" y="26791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89632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4224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2.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4224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Train / test</a:t>
            </a:r>
          </a:p>
        </p:txBody>
      </p:sp>
      <p:sp>
        <p:nvSpPr>
          <p:cNvPr id="11" name="Chevron 10"/>
          <p:cNvSpPr/>
          <p:nvPr/>
        </p:nvSpPr>
        <p:spPr>
          <a:xfrm>
            <a:off x="4102607" y="26791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6343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0935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3.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0935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Impute + encode</a:t>
            </a:r>
          </a:p>
        </p:txBody>
      </p:sp>
      <p:sp>
        <p:nvSpPr>
          <p:cNvPr id="15" name="Chevron 14"/>
          <p:cNvSpPr/>
          <p:nvPr/>
        </p:nvSpPr>
        <p:spPr>
          <a:xfrm>
            <a:off x="5989319" y="26791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5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7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4. Train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Fit model</a:t>
            </a:r>
          </a:p>
        </p:txBody>
      </p:sp>
      <p:sp>
        <p:nvSpPr>
          <p:cNvPr id="19" name="Chevron 18"/>
          <p:cNvSpPr/>
          <p:nvPr/>
        </p:nvSpPr>
        <p:spPr>
          <a:xfrm>
            <a:off x="7876032" y="26791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9767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4359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5. 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4359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Metrics + report</a:t>
            </a:r>
          </a:p>
        </p:txBody>
      </p:sp>
      <p:sp>
        <p:nvSpPr>
          <p:cNvPr id="23" name="Chevron 22"/>
          <p:cNvSpPr/>
          <p:nvPr/>
        </p:nvSpPr>
        <p:spPr>
          <a:xfrm>
            <a:off x="9762744" y="26791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36479" y="2240280"/>
            <a:ext cx="1722119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1071" y="2377440"/>
            <a:ext cx="13929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6. Persist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1071" y="2807208"/>
            <a:ext cx="1392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Model +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900">
                <a:solidFill>
                  <a:srgbClr val="142037"/>
                </a:solidFill>
              </a:rPr>
              <a:t>Key principle: </a:t>
            </a:r>
            <a:r>
              <a:rPr sz="1900">
                <a:solidFill>
                  <a:srgbClr val="1E232D"/>
                </a:solidFill>
              </a:rPr>
              <a:t>each step should be understandable, repeatable and independently testable.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Folder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Small modules make responsibilities visible.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6303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main.py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92807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Orchestrates the run
CLI +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6303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data_loader.py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7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Dataset creation/loading
Train/test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46303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features.py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1892807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Imputation
One-hot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61187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train.py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0416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Model selection
Fit + save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47472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61187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evaluate.py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0416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Metrics
JSON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47472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3611879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config.yaml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4041648"/>
            <a:ext cx="309981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Data + model + paths
Experiment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Configuration is the experiment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Instead of changing code for every experiment, change controlled parameters.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42976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36192"/>
            <a:ext cx="1038758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data:
  path: data/churn.csv
  target_column: churn
  test_size: 0.20
  random_state: 42
model:
  type: logistic_regression
  max_iter: 1000
paths:
  model_path: artifacts/model.joblib
  report_path: artifacts/metrics.json
  log_path: artifacts/training.log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806440"/>
            <a:ext cx="33832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594360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Teaching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373368"/>
            <a:ext cx="3054096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What changes when test_size goes from 0.20 → 0.30?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5806440"/>
            <a:ext cx="33832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594360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Reproducibility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6373368"/>
            <a:ext cx="3054096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Why keep random_state fixed?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5806440"/>
            <a:ext cx="338328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594360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Separation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6373368"/>
            <a:ext cx="3054096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Why keep paths outside the code?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Why random_state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Same code + same data + same seed → comparable experiments.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5448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Run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random_state = 42
Same split
Same transformation
Comparable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Run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84248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random_state = 42
Same split
Same transformation
Comparable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554480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Run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84248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random_state = 7
Different split
Potentially different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2037"/>
                </a:solidFill>
              </a:rPr>
              <a:t>Important: </a:t>
            </a:r>
            <a:r>
              <a:rPr sz="2000">
                <a:solidFill>
                  <a:srgbClr val="1E232D"/>
                </a:solidFill>
              </a:rPr>
              <a:t>a seed does not make a model universally better. It makes an experiment repeatable.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Data loading &amp;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The loader owns the dataset boundary — not the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CSV exists?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9572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Use configured path</a:t>
            </a:r>
          </a:p>
        </p:txBody>
      </p:sp>
      <p:sp>
        <p:nvSpPr>
          <p:cNvPr id="7" name="Chevron 6"/>
          <p:cNvSpPr/>
          <p:nvPr/>
        </p:nvSpPr>
        <p:spPr>
          <a:xfrm>
            <a:off x="3159252" y="22677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2988" y="182880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965960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Missing?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239572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Create synthetic data</a:t>
            </a:r>
          </a:p>
        </p:txBody>
      </p:sp>
      <p:sp>
        <p:nvSpPr>
          <p:cNvPr id="11" name="Chevron 10"/>
          <p:cNvSpPr/>
          <p:nvPr/>
        </p:nvSpPr>
        <p:spPr>
          <a:xfrm>
            <a:off x="5989320" y="22677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39572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Check target / columns</a:t>
            </a:r>
          </a:p>
        </p:txBody>
      </p:sp>
      <p:sp>
        <p:nvSpPr>
          <p:cNvPr id="15" name="Chevron 14"/>
          <p:cNvSpPr/>
          <p:nvPr/>
        </p:nvSpPr>
        <p:spPr>
          <a:xfrm>
            <a:off x="8819388" y="22677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93124" y="182880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7716" y="1965960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6" y="239572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Train +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49039"/>
            <a:ext cx="10789920" cy="164592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13631"/>
            <a:ext cx="103875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X_train, X_test, y_train, y_test = train_test_split(
    X, y,
    test_size=config['data']['test_size'],
    random_state=config['data']['random_state'],
    stratify=y
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106070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760720"/>
            <a:ext cx="10277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BE4646"/>
                </a:solidFill>
              </a:rPr>
              <a:t>Teaching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6190488"/>
            <a:ext cx="1027785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Split before learning preprocessing statistics from the full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Feature engineering: fit on train, transform both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This is a critical leakage-prevention rule.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691639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12140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fit imputer</a:t>
            </a:r>
          </a:p>
        </p:txBody>
      </p:sp>
      <p:sp>
        <p:nvSpPr>
          <p:cNvPr id="7" name="Chevron 6"/>
          <p:cNvSpPr/>
          <p:nvPr/>
        </p:nvSpPr>
        <p:spPr>
          <a:xfrm>
            <a:off x="3159252" y="1993391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2988" y="155448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1691639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212140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fit encoder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89320" y="1993391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55448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691639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12140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transform</a:t>
            </a:r>
          </a:p>
        </p:txBody>
      </p:sp>
      <p:sp>
        <p:nvSpPr>
          <p:cNvPr id="15" name="Chevron 14"/>
          <p:cNvSpPr/>
          <p:nvPr/>
        </p:nvSpPr>
        <p:spPr>
          <a:xfrm>
            <a:off x="8819388" y="1993391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93124" y="1554480"/>
            <a:ext cx="2665476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7716" y="1691639"/>
            <a:ext cx="23362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7716" y="2121408"/>
            <a:ext cx="23362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transform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3C965A"/>
                </a:solidFill>
              </a:rPr>
              <a:t>Correct: </a:t>
            </a:r>
            <a:r>
              <a:rPr sz="2200">
                <a:solidFill>
                  <a:srgbClr val="1E232D"/>
                </a:solidFill>
              </a:rPr>
              <a:t>learn preprocessing parameters from training data only.</a:t>
            </a:r>
          </a:p>
          <a:p>
            <a:r>
              <a:rPr b="1" sz="1900">
                <a:solidFill>
                  <a:srgbClr val="142037"/>
                </a:solidFill>
              </a:rPr>
              <a:t>Why? </a:t>
            </a:r>
            <a:r>
              <a:rPr sz="1900">
                <a:solidFill>
                  <a:srgbClr val="1E232D"/>
                </a:solidFill>
              </a:rPr>
              <a:t>The test set must remain an unseen estimate of generalization.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4937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029200"/>
            <a:ext cx="4608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BE4646"/>
                </a:solidFill>
              </a:rPr>
              <a:t>Bad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458968"/>
            <a:ext cx="4608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fit_transform(X) before train/test split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892040"/>
            <a:ext cx="4937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5029200"/>
            <a:ext cx="4608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Better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458968"/>
            <a:ext cx="4608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fit_transform(X_train); transform(X_test)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Training: encapsulate model selection and fitting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train.py should make the model step easy to test and replace.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42976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36192"/>
            <a:ext cx="1038758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onsolas"/>
              </a:rPr>
              <a:t>def train_model(X_train, y_train, config):
    model = LogisticRegression(
        max_iter=config['model']['max_iter']
    )
    model.fit(X_train, y_train)
    return model
model = train_model(X_train, y_train, config)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806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Design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6236208"/>
            <a:ext cx="296265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Input →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66928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5806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Easy extension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6236208"/>
            <a:ext cx="296265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Add RandomForest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5669280"/>
            <a:ext cx="32918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5806440"/>
            <a:ext cx="29626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Easy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6236208"/>
            <a:ext cx="2962656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Unit-test train_model()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Evaluation: accuracy is only one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For classification, inspect several metrics and the confusion matrix.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63039"/>
            <a:ext cx="2276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92807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Overall fraction predicted correctly.
Useful, but can hide class imbalance.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32588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463039"/>
            <a:ext cx="2276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1892807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Of predicted positives,
how many were actually positive?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463039"/>
            <a:ext cx="2276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1892807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Of actual positives,
how many did we find?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25880"/>
            <a:ext cx="26060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1463039"/>
            <a:ext cx="2276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1892807"/>
            <a:ext cx="22768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Balances precision and recall
using their harmonic mean.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10789920" cy="164592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67911"/>
            <a:ext cx="103875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metrics = {
  'accuracy': accuracy_score(y_test, y_pred),
  'precision': precision_score(y_test, y_pred),
  'recall': recall_score(y_test, y_pred),
  'f1': f1_score(y_test, y_pred)
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Artifacts are the outputs of a training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If you cannot inspect what happened, reproducibility is incomplete.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554480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model.joblib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30998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Serialized trained model.
Can be loaded later for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metrics.json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84248"/>
            <a:ext cx="30998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Accuracy, precision, recall, F1
+ full classification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17320"/>
            <a:ext cx="34290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554480"/>
            <a:ext cx="30998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training.log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84248"/>
            <a:ext cx="309981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INFO-level record of the run:
what loaded, trained and saved.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100">
                <a:solidFill>
                  <a:srgbClr val="142037"/>
                </a:solidFill>
              </a:rPr>
              <a:t>Mental model: </a:t>
            </a:r>
            <a:r>
              <a:rPr sz="2100">
                <a:solidFill>
                  <a:srgbClr val="1E232D"/>
                </a:solidFill>
              </a:rPr>
              <a:t>Code produces artifacts; artifacts provide evidence of what the code produced.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Run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Start from the repository root so relative paths behave consistently.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42976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36192"/>
            <a:ext cx="1038758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python -m venv .venv
# Windows
.\.venv\Scripts\activate
# macOS / Linux
source .venv/bin/activate
pip install -r requirements.txt
python day1/03_production_training/scripts/main.py \
  --config day1/03_production_training/scripts/config.yaml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What should appear after the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Have students inspect the filesystem, not just the terminal output.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19456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Run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62432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main.py</a:t>
            </a:r>
          </a:p>
        </p:txBody>
      </p:sp>
      <p:sp>
        <p:nvSpPr>
          <p:cNvPr id="7" name="Chevron 6"/>
          <p:cNvSpPr/>
          <p:nvPr/>
        </p:nvSpPr>
        <p:spPr>
          <a:xfrm>
            <a:off x="2593238" y="24963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6974" y="205740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1566" y="219456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artifacts/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1566" y="262432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created automatically</a:t>
            </a:r>
          </a:p>
        </p:txBody>
      </p:sp>
      <p:sp>
        <p:nvSpPr>
          <p:cNvPr id="11" name="Chevron 10"/>
          <p:cNvSpPr/>
          <p:nvPr/>
        </p:nvSpPr>
        <p:spPr>
          <a:xfrm>
            <a:off x="4857292" y="24963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1028" y="205740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5620" y="219456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model.joblib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5620" y="262432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trained model</a:t>
            </a:r>
          </a:p>
        </p:txBody>
      </p:sp>
      <p:sp>
        <p:nvSpPr>
          <p:cNvPr id="15" name="Chevron 14"/>
          <p:cNvSpPr/>
          <p:nvPr/>
        </p:nvSpPr>
        <p:spPr>
          <a:xfrm>
            <a:off x="7121347" y="24963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95083" y="205740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9675" y="219456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metrics.json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9675" y="262432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evaluation evidence</a:t>
            </a:r>
          </a:p>
        </p:txBody>
      </p:sp>
      <p:sp>
        <p:nvSpPr>
          <p:cNvPr id="19" name="Chevron 18"/>
          <p:cNvSpPr/>
          <p:nvPr/>
        </p:nvSpPr>
        <p:spPr>
          <a:xfrm>
            <a:off x="9385401" y="249631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9137" y="205740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3729" y="219456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training.log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3729" y="262432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run trace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10789920" cy="123444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142231"/>
            <a:ext cx="1038758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nsolas"/>
              </a:rPr>
              <a:t>artifacts/
├── model.joblib
├── metrics.json
└── training.log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Live demo: change one variable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Use configuration to demonstrate an experiment rather than editing the training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63039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Experiment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92807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test_size: 0.20
random_state: 42
Run → record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463039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Experiment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92807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test_size: 0.30
random_state: 42
Run → record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3832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463039"/>
            <a:ext cx="30540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Discuss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92807"/>
            <a:ext cx="3054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Did metrics change?
Why might they change?
Was the comparison fair?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142037"/>
                </a:solidFill>
              </a:rPr>
              <a:t>Teaching insight: </a:t>
            </a:r>
            <a:r>
              <a:rPr sz="2000">
                <a:solidFill>
                  <a:srgbClr val="1E232D"/>
                </a:solidFill>
              </a:rPr>
              <a:t>controlled changes turn “I ran it again” into an experiment.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Optional extension: add RandomForest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A good production design makes model replacement local rather than a rewrite.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789920" cy="42976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36192"/>
            <a:ext cx="10387584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model:
  type: random_forest
  n_estimators: 200
  random_state: 42
# train.py
if model_type == 'logistic_regression':
    model = LogisticRegression(...)
elif model_type == 'random_forest':
    model = RandomForestClassifier(...)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77840"/>
            <a:ext cx="106070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5715000"/>
            <a:ext cx="1027785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Student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6144768"/>
            <a:ext cx="10277856" cy="-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Implement the second model, run both configurations, compare metrics, and explain the trade-offs.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Troubleshooting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Teach students to diagnose systematically.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417319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BE4646"/>
                </a:solidFill>
              </a:rPr>
              <a:t>ModuleNotFoundError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84708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Check the virtual environment.
Run pip install -r requirements.txt.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1417319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Target not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84708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Open the CSV.
Compare its headers with data.target_column.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417319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No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1" y="184708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Check paths in config.yaml.
Check the log for the failing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794760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Unexpected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22452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Confirm random_state.
Inspect train/test sizes.
Check preprocessing.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65760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3794760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Path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22452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Run from repository root.
Prefer config-driven paths.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4747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3794760"/>
            <a:ext cx="31455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224528"/>
            <a:ext cx="31455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Open training.log.
Find the first ERROR, not just the final symptom.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Production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Before calling a training script “production-style,” ask these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2588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5564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Can another person run it from a clean environment?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8872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2588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175564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Are important parameters stored in configuration?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56032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9008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Is the train/test split reproducible?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56032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9008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Is preprocessing fitted only on training data?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79476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22452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Are evaluation metrics saved as an artifact?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79476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22452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Is the trained model persisted?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502920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45896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Can logs explain what happened during the run?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892040"/>
            <a:ext cx="52120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5029200"/>
            <a:ext cx="4882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458968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Can one component be changed without rewriting the entire pipeline?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60-minute teaching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Keep the session hands-on: explain → run → inspect → modify → discuss.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0–10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Architecture
Why production-style?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0008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10–20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Read files
Map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20–35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Run pipeline
Inspect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35–48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Change config
Compare runs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48–57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Optional RF
Student extension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1828800"/>
            <a:ext cx="17373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68712" y="1965960"/>
            <a:ext cx="14081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57–60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8712" y="2395728"/>
            <a:ext cx="140817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Recap
Exit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Exit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Use these to test understanding rather than memorization.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1. Why should test data not be used to fit an imputer or encoder?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2. What does random_state give us — and what does it NOT guarantee?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3. If metrics changed after changing test_size, does that automatically mean the model improved?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4. What is the purpose of model.joblib, metrics.json and training.log?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5. Which file would you modify to add a new model type?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1E232D"/>
                </a:solidFill>
              </a:rPr>
              <a:t>6. If you had to hand this pipeline to another engineer, what would you want them to be able to reproduce?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037"/>
                </a:solidFill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73"/>
                </a:solidFill>
              </a:rPr>
              <a:t>Production model training is a system, not a single .fit()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14884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D69BE"/>
                </a:solidFill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57860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Define the run</a:t>
            </a:r>
          </a:p>
        </p:txBody>
      </p:sp>
      <p:sp>
        <p:nvSpPr>
          <p:cNvPr id="7" name="Chevron 6"/>
          <p:cNvSpPr/>
          <p:nvPr/>
        </p:nvSpPr>
        <p:spPr>
          <a:xfrm>
            <a:off x="2593238" y="24505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6974" y="201168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31566" y="214884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28968C"/>
                </a:solidFill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1566" y="257860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Control the flow</a:t>
            </a:r>
          </a:p>
        </p:txBody>
      </p:sp>
      <p:sp>
        <p:nvSpPr>
          <p:cNvPr id="11" name="Chevron 10"/>
          <p:cNvSpPr/>
          <p:nvPr/>
        </p:nvSpPr>
        <p:spPr>
          <a:xfrm>
            <a:off x="4857292" y="24505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31028" y="201168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5620" y="214884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E1872D"/>
                </a:solidFill>
              </a:rPr>
              <a:t>Reproducibility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5620" y="257860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Same inputs → comparable run</a:t>
            </a:r>
          </a:p>
        </p:txBody>
      </p:sp>
      <p:sp>
        <p:nvSpPr>
          <p:cNvPr id="15" name="Chevron 14"/>
          <p:cNvSpPr/>
          <p:nvPr/>
        </p:nvSpPr>
        <p:spPr>
          <a:xfrm>
            <a:off x="7121347" y="24505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95083" y="201168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9675" y="214884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3C965A"/>
                </a:solidFill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9675" y="257860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Measure honestly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85401" y="2450592"/>
            <a:ext cx="219456" cy="411480"/>
          </a:xfrm>
          <a:prstGeom prst="chevron">
            <a:avLst/>
          </a:prstGeom>
          <a:solidFill>
            <a:srgbClr val="5A6473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9137" y="2011680"/>
            <a:ext cx="2099462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3729" y="2148840"/>
            <a:ext cx="177027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142037"/>
                </a:solidFill>
              </a:rPr>
              <a:t>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3729" y="2578608"/>
            <a:ext cx="17702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E232D"/>
                </a:solidFill>
              </a:rPr>
              <a:t>Save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06070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2037"/>
                </a:solidFill>
              </a:rPr>
              <a:t>A production-style pipeline makes training repeatable, inspectable, and easier to change safely.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473"/>
                </a:solidFill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