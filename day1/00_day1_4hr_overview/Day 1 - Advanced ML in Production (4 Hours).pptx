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A0AEC4"/>
              </a:solidFill>
              <a:ln>
                <a:noFill/>
              </a:ln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7.25</c:v>
                </c:pt>
                <c:pt idx="6">
                  <c:v>7.25</c:v>
                </c:pt>
                <c:pt idx="7">
                  <c:v>7.25</c:v>
                </c:pt>
                <c:pt idx="8">
                  <c:v>7.25</c:v>
                </c:pt>
                <c:pt idx="9">
                  <c:v>7.25</c:v>
                </c:pt>
                <c:pt idx="10">
                  <c:v>11.5</c:v>
                </c:pt>
                <c:pt idx="11">
                  <c:v>11.5</c:v>
                </c:pt>
                <c:pt idx="12">
                  <c:v>11.5</c:v>
                </c:pt>
                <c:pt idx="13">
                  <c:v>11.5</c:v>
                </c:pt>
                <c:pt idx="14">
                  <c:v>11.5</c:v>
                </c:pt>
                <c:pt idx="15">
                  <c:v>15.75</c:v>
                </c:pt>
                <c:pt idx="16">
                  <c:v>15.75</c:v>
                </c:pt>
                <c:pt idx="17">
                  <c:v>15.75</c:v>
                </c:pt>
                <c:pt idx="18">
                  <c:v>15.75</c:v>
                </c:pt>
                <c:pt idx="19">
                  <c:v>15.75</c:v>
                </c:pt>
                <c:pt idx="20">
                  <c:v>20.0</c:v>
                </c:pt>
                <c:pt idx="21">
                  <c:v>20.0</c:v>
                </c:pt>
                <c:pt idx="22">
                  <c:v>20.0</c:v>
                </c:pt>
                <c:pt idx="23">
                  <c:v>20.0</c:v>
                </c:pt>
                <c:pt idx="24">
                  <c:v>20.0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50.0</c:v>
                </c:pt>
                <c:pt idx="1">
                  <c:v>112.5</c:v>
                </c:pt>
                <c:pt idx="2">
                  <c:v>175.0</c:v>
                </c:pt>
                <c:pt idx="3">
                  <c:v>237.5</c:v>
                </c:pt>
                <c:pt idx="4">
                  <c:v>300.0</c:v>
                </c:pt>
                <c:pt idx="5">
                  <c:v>50.0</c:v>
                </c:pt>
                <c:pt idx="6">
                  <c:v>112.5</c:v>
                </c:pt>
                <c:pt idx="7">
                  <c:v>175.0</c:v>
                </c:pt>
                <c:pt idx="8">
                  <c:v>237.5</c:v>
                </c:pt>
                <c:pt idx="9">
                  <c:v>300.0</c:v>
                </c:pt>
                <c:pt idx="10">
                  <c:v>50.0</c:v>
                </c:pt>
                <c:pt idx="11">
                  <c:v>112.5</c:v>
                </c:pt>
                <c:pt idx="12">
                  <c:v>175.0</c:v>
                </c:pt>
                <c:pt idx="13">
                  <c:v>237.5</c:v>
                </c:pt>
                <c:pt idx="14">
                  <c:v>300.0</c:v>
                </c:pt>
                <c:pt idx="15">
                  <c:v>50.0</c:v>
                </c:pt>
                <c:pt idx="16">
                  <c:v>112.5</c:v>
                </c:pt>
                <c:pt idx="17">
                  <c:v>175.0</c:v>
                </c:pt>
                <c:pt idx="18">
                  <c:v>237.5</c:v>
                </c:pt>
                <c:pt idx="19">
                  <c:v>300.0</c:v>
                </c:pt>
                <c:pt idx="20">
                  <c:v>50.0</c:v>
                </c:pt>
                <c:pt idx="21">
                  <c:v>112.5</c:v>
                </c:pt>
                <c:pt idx="22">
                  <c:v>175.0</c:v>
                </c:pt>
                <c:pt idx="23">
                  <c:v>237.5</c:v>
                </c:pt>
                <c:pt idx="24">
                  <c:v>300.0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1000">
                <a:solidFill>
                  <a:srgbClr val="A0AEC4"/>
                </a:solidFill>
              </a:defRPr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320.0"/>
          <c:min val="0.0"/>
        </c:scaling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1000">
                <a:solidFill>
                  <a:srgbClr val="A0AEC4"/>
                </a:solidFill>
              </a:defRPr>
            </a:pPr>
          </a:p>
        </c:txPr>
        <c:crossAx val="-2128940872"/>
        <c:crosses val="autoZero"/>
        <c:crossBetween val="midCat"/>
        <c:majorUnit val="10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4FC3F7"/>
              </a:solidFill>
              <a:ln>
                <a:noFill/>
              </a:ln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13.63</c:v>
                </c:pt>
                <c:pt idx="1">
                  <c:v>18.25</c:v>
                </c:pt>
                <c:pt idx="2">
                  <c:v>16.19</c:v>
                </c:pt>
                <c:pt idx="3">
                  <c:v>6.83</c:v>
                </c:pt>
                <c:pt idx="4">
                  <c:v>8.1</c:v>
                </c:pt>
                <c:pt idx="5">
                  <c:v>17.85</c:v>
                </c:pt>
                <c:pt idx="6">
                  <c:v>3.09</c:v>
                </c:pt>
                <c:pt idx="7">
                  <c:v>16.96</c:v>
                </c:pt>
                <c:pt idx="8">
                  <c:v>16.55</c:v>
                </c:pt>
                <c:pt idx="9">
                  <c:v>10.95</c:v>
                </c:pt>
                <c:pt idx="10">
                  <c:v>8.15</c:v>
                </c:pt>
                <c:pt idx="11">
                  <c:v>7.73</c:v>
                </c:pt>
                <c:pt idx="12">
                  <c:v>7.33</c:v>
                </c:pt>
                <c:pt idx="13">
                  <c:v>10.57</c:v>
                </c:pt>
                <c:pt idx="14">
                  <c:v>11.58</c:v>
                </c:pt>
                <c:pt idx="15">
                  <c:v>12.41</c:v>
                </c:pt>
                <c:pt idx="16">
                  <c:v>19.92</c:v>
                </c:pt>
                <c:pt idx="17">
                  <c:v>16.48</c:v>
                </c:pt>
                <c:pt idx="18">
                  <c:v>13.58</c:v>
                </c:pt>
                <c:pt idx="19">
                  <c:v>19.81</c:v>
                </c:pt>
                <c:pt idx="20">
                  <c:v>6.66</c:v>
                </c:pt>
                <c:pt idx="21">
                  <c:v>5.72</c:v>
                </c:pt>
                <c:pt idx="22">
                  <c:v>13.41</c:v>
                </c:pt>
                <c:pt idx="23">
                  <c:v>3.75</c:v>
                </c:pt>
                <c:pt idx="24">
                  <c:v>3.61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178.7</c:v>
                </c:pt>
                <c:pt idx="1">
                  <c:v>166.6</c:v>
                </c:pt>
                <c:pt idx="2">
                  <c:v>279.3</c:v>
                </c:pt>
                <c:pt idx="3">
                  <c:v>207.3</c:v>
                </c:pt>
                <c:pt idx="4">
                  <c:v>178.5</c:v>
                </c:pt>
                <c:pt idx="5">
                  <c:v>174.2</c:v>
                </c:pt>
                <c:pt idx="6">
                  <c:v>111.9</c:v>
                </c:pt>
                <c:pt idx="7">
                  <c:v>52.9</c:v>
                </c:pt>
                <c:pt idx="8">
                  <c:v>98.1</c:v>
                </c:pt>
                <c:pt idx="9">
                  <c:v>223.0</c:v>
                </c:pt>
                <c:pt idx="10">
                  <c:v>100.2</c:v>
                </c:pt>
                <c:pt idx="11">
                  <c:v>142.4</c:v>
                </c:pt>
                <c:pt idx="12">
                  <c:v>50.9</c:v>
                </c:pt>
                <c:pt idx="13">
                  <c:v>257.5</c:v>
                </c:pt>
                <c:pt idx="14">
                  <c:v>88.6</c:v>
                </c:pt>
                <c:pt idx="15">
                  <c:v>116.9</c:v>
                </c:pt>
                <c:pt idx="16">
                  <c:v>270.1</c:v>
                </c:pt>
                <c:pt idx="17">
                  <c:v>177.4</c:v>
                </c:pt>
                <c:pt idx="18">
                  <c:v>261.8</c:v>
                </c:pt>
                <c:pt idx="19">
                  <c:v>209.9</c:v>
                </c:pt>
                <c:pt idx="20">
                  <c:v>235.4</c:v>
                </c:pt>
                <c:pt idx="21">
                  <c:v>72.9</c:v>
                </c:pt>
                <c:pt idx="22">
                  <c:v>185.3</c:v>
                </c:pt>
                <c:pt idx="23">
                  <c:v>176.9</c:v>
                </c:pt>
                <c:pt idx="24">
                  <c:v>267.8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1000">
                <a:solidFill>
                  <a:srgbClr val="A0AEC4"/>
                </a:solidFill>
              </a:defRPr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320.0"/>
          <c:min val="0.0"/>
        </c:scaling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1000">
                <a:solidFill>
                  <a:srgbClr val="A0AEC4"/>
                </a:solidFill>
              </a:defRPr>
            </a:pPr>
          </a:p>
        </c:txPr>
        <c:crossAx val="-2128940872"/>
        <c:crosses val="autoZero"/>
        <c:crossBetween val="midCat"/>
        <c:majorUnit val="10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FF9800"/>
              </a:solidFill>
              <a:ln>
                <a:noFill/>
              </a:ln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9.14</c:v>
                </c:pt>
                <c:pt idx="1">
                  <c:v>13.17</c:v>
                </c:pt>
                <c:pt idx="2">
                  <c:v>4.01</c:v>
                </c:pt>
                <c:pt idx="3">
                  <c:v>9.59</c:v>
                </c:pt>
                <c:pt idx="4">
                  <c:v>8.49</c:v>
                </c:pt>
                <c:pt idx="5">
                  <c:v>5.55</c:v>
                </c:pt>
                <c:pt idx="6">
                  <c:v>16.88</c:v>
                </c:pt>
                <c:pt idx="7">
                  <c:v>9.45</c:v>
                </c:pt>
                <c:pt idx="8">
                  <c:v>11.87</c:v>
                </c:pt>
                <c:pt idx="9">
                  <c:v>15.98</c:v>
                </c:pt>
                <c:pt idx="10">
                  <c:v>10.21</c:v>
                </c:pt>
                <c:pt idx="11">
                  <c:v>7.08</c:v>
                </c:pt>
                <c:pt idx="12">
                  <c:v>12.25</c:v>
                </c:pt>
                <c:pt idx="13">
                  <c:v>14.15</c:v>
                </c:pt>
                <c:pt idx="14">
                  <c:v>11.67</c:v>
                </c:pt>
                <c:pt idx="15">
                  <c:v>15.67</c:v>
                </c:pt>
                <c:pt idx="16">
                  <c:v>11.92</c:v>
                </c:pt>
                <c:pt idx="17">
                  <c:v>12.29</c:v>
                </c:pt>
                <c:pt idx="18">
                  <c:v>10.72</c:v>
                </c:pt>
                <c:pt idx="19">
                  <c:v>11.86</c:v>
                </c:pt>
                <c:pt idx="20">
                  <c:v>13.34</c:v>
                </c:pt>
                <c:pt idx="21">
                  <c:v>13.25</c:v>
                </c:pt>
                <c:pt idx="22">
                  <c:v>13.51</c:v>
                </c:pt>
                <c:pt idx="23">
                  <c:v>12.97</c:v>
                </c:pt>
                <c:pt idx="24">
                  <c:v>12.72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294.7</c:v>
                </c:pt>
                <c:pt idx="1">
                  <c:v>197.5</c:v>
                </c:pt>
                <c:pt idx="2">
                  <c:v>201.3</c:v>
                </c:pt>
                <c:pt idx="3">
                  <c:v>209.5</c:v>
                </c:pt>
                <c:pt idx="4">
                  <c:v>219.1</c:v>
                </c:pt>
                <c:pt idx="5">
                  <c:v>87.7</c:v>
                </c:pt>
                <c:pt idx="6">
                  <c:v>160.1</c:v>
                </c:pt>
                <c:pt idx="7">
                  <c:v>109.9</c:v>
                </c:pt>
                <c:pt idx="8">
                  <c:v>265.4</c:v>
                </c:pt>
                <c:pt idx="9">
                  <c:v>168.4</c:v>
                </c:pt>
                <c:pt idx="10">
                  <c:v>251.2</c:v>
                </c:pt>
                <c:pt idx="11">
                  <c:v>207.3</c:v>
                </c:pt>
                <c:pt idx="12">
                  <c:v>270.3</c:v>
                </c:pt>
                <c:pt idx="13">
                  <c:v>214.0</c:v>
                </c:pt>
                <c:pt idx="14">
                  <c:v>217.1</c:v>
                </c:pt>
                <c:pt idx="15">
                  <c:v>212.5</c:v>
                </c:pt>
                <c:pt idx="16">
                  <c:v>234.5</c:v>
                </c:pt>
                <c:pt idx="17">
                  <c:v>220.1</c:v>
                </c:pt>
                <c:pt idx="18">
                  <c:v>224.7</c:v>
                </c:pt>
                <c:pt idx="19">
                  <c:v>248.6</c:v>
                </c:pt>
                <c:pt idx="20">
                  <c:v>224.6</c:v>
                </c:pt>
                <c:pt idx="21">
                  <c:v>219.6</c:v>
                </c:pt>
                <c:pt idx="22">
                  <c:v>224.9</c:v>
                </c:pt>
                <c:pt idx="23">
                  <c:v>210.5</c:v>
                </c:pt>
                <c:pt idx="24">
                  <c:v>209.8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1000">
                <a:solidFill>
                  <a:srgbClr val="A0AEC4"/>
                </a:solidFill>
              </a:defRPr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320.0"/>
          <c:min val="0.0"/>
        </c:scaling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1000">
                <a:solidFill>
                  <a:srgbClr val="A0AEC4"/>
                </a:solidFill>
              </a:defRPr>
            </a:pPr>
          </a:p>
        </c:txPr>
        <c:crossAx val="-2128940872"/>
        <c:crosses val="autoZero"/>
        <c:crossBetween val="midCat"/>
        <c:majorUnit val="10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PSI</c:v>
                </c:pt>
              </c:strCache>
            </c:strRef>
          </c:tx>
          <c:dPt>
            <c:idx val="0"/>
            <c:spPr>
              <a:solidFill>
                <a:srgbClr val="EF5350"/>
              </a:solidFill>
            </c:spPr>
          </c:dPt>
          <c:dPt>
            <c:idx val="1"/>
            <c:spPr>
              <a:solidFill>
                <a:srgbClr val="FF9800"/>
              </a:solidFill>
            </c:spPr>
          </c:dPt>
          <c:dPt>
            <c:idx val="2"/>
            <c:spPr>
              <a:solidFill>
                <a:srgbClr val="4CAF50"/>
              </a:solidFill>
            </c:spPr>
          </c:dPt>
          <c:dPt>
            <c:idx val="3"/>
            <c:spPr>
              <a:solidFill>
                <a:srgbClr val="4CAF50"/>
              </a:solidFill>
            </c:spPr>
          </c:dPt>
          <c:dPt>
            <c:idx val="4"/>
            <c:spPr>
              <a:solidFill>
                <a:srgbClr val="4CAF50"/>
              </a:solidFill>
            </c:spPr>
          </c:dPt>
          <c:dPt>
            <c:idx val="5"/>
            <c:spPr>
              <a:solidFill>
                <a:srgbClr val="4CAF50"/>
              </a:solidFill>
            </c:spPr>
          </c:dPt>
          <c:cat>
            <c:strRef>
              <c:f>Sheet1!$A$2:$A$7</c:f>
              <c:strCache>
                <c:ptCount val="6"/>
                <c:pt idx="0">
                  <c:v>credit_utilization</c:v>
                </c:pt>
                <c:pt idx="1">
                  <c:v>age</c:v>
                </c:pt>
                <c:pt idx="2">
                  <c:v>annual_income</c:v>
                </c:pt>
                <c:pt idx="3">
                  <c:v>loan_amount</c:v>
                </c:pt>
                <c:pt idx="4">
                  <c:v>credit_score</c:v>
                </c:pt>
                <c:pt idx="5">
                  <c:v>employment_years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0.301</c:v>
                </c:pt>
                <c:pt idx="1">
                  <c:v>0.138</c:v>
                </c:pt>
                <c:pt idx="2">
                  <c:v>0.058</c:v>
                </c:pt>
                <c:pt idx="3">
                  <c:v>0.004</c:v>
                </c:pt>
                <c:pt idx="4">
                  <c:v>0.012</c:v>
                </c:pt>
                <c:pt idx="5">
                  <c:v>0.01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1100">
                <a:solidFill>
                  <a:srgbClr val="A0AEC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5"/>
          <c:min val="0.0"/>
        </c:scaling>
        <c:delete val="0"/>
        <c:axPos val="b"/>
        <c:majorGridlines>
          <c:spPr>
            <a:ln w="6350">
              <a:solidFill>
                <a:srgbClr val="2A3A5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1000">
                <a:solidFill>
                  <a:srgbClr val="A0AEC4"/>
                </a:solidFill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1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28575">
              <a:solidFill>
                <a:srgbClr val="4FC3F7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0.82</c:v>
                </c:pt>
                <c:pt idx="1">
                  <c:v>0.82</c:v>
                </c:pt>
                <c:pt idx="2">
                  <c:v>0.81</c:v>
                </c:pt>
                <c:pt idx="3">
                  <c:v>0.81</c:v>
                </c:pt>
                <c:pt idx="4">
                  <c:v>0.8</c:v>
                </c:pt>
                <c:pt idx="5">
                  <c:v>0.79</c:v>
                </c:pt>
                <c:pt idx="6">
                  <c:v>0.78</c:v>
                </c:pt>
                <c:pt idx="7">
                  <c:v>0.76</c:v>
                </c:pt>
                <c:pt idx="8">
                  <c:v>0.75</c:v>
                </c:pt>
                <c:pt idx="9">
                  <c:v>0.73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</c:v>
                </c:pt>
              </c:strCache>
            </c:strRef>
          </c:tx>
          <c:spPr>
            <a:ln w="19050">
              <a:solidFill>
                <a:srgbClr val="EF5350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0.75</c:v>
                </c:pt>
                <c:pt idx="1">
                  <c:v>0.75</c:v>
                </c:pt>
                <c:pt idx="2">
                  <c:v>0.75</c:v>
                </c:pt>
                <c:pt idx="3">
                  <c:v>0.75</c:v>
                </c:pt>
                <c:pt idx="4">
                  <c:v>0.75</c:v>
                </c:pt>
                <c:pt idx="5">
                  <c:v>0.75</c:v>
                </c:pt>
                <c:pt idx="6">
                  <c:v>0.75</c:v>
                </c:pt>
                <c:pt idx="7">
                  <c:v>0.75</c:v>
                </c:pt>
                <c:pt idx="8">
                  <c:v>0.75</c:v>
                </c:pt>
                <c:pt idx="9">
                  <c:v>0.75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900">
                <a:solidFill>
                  <a:srgbClr val="A0AEC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28575">
              <a:solidFill>
                <a:srgbClr val="4FC3F7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3.1</c:v>
                </c:pt>
                <c:pt idx="1">
                  <c:v>3.0</c:v>
                </c:pt>
                <c:pt idx="2">
                  <c:v>3.2</c:v>
                </c:pt>
                <c:pt idx="3">
                  <c:v>3.3</c:v>
                </c:pt>
                <c:pt idx="4">
                  <c:v>3.6</c:v>
                </c:pt>
                <c:pt idx="5">
                  <c:v>3.9</c:v>
                </c:pt>
                <c:pt idx="6">
                  <c:v>4.2</c:v>
                </c:pt>
                <c:pt idx="7">
                  <c:v>4.6</c:v>
                </c:pt>
                <c:pt idx="8">
                  <c:v>4.9</c:v>
                </c:pt>
                <c:pt idx="9">
                  <c:v>5.3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900">
                <a:solidFill>
                  <a:srgbClr val="A0AEC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7986CB"/>
            </a:solidFill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</c:v>
                </c:pt>
                <c:pt idx="1">
                  <c:v>0.14</c:v>
                </c:pt>
                <c:pt idx="2">
                  <c:v>0.06</c:v>
                </c:pt>
                <c:pt idx="3">
                  <c:v>0.01</c:v>
                </c:pt>
                <c:pt idx="4">
                  <c:v>0.01</c:v>
                </c:pt>
                <c:pt idx="5">
                  <c:v>0.01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900">
                <a:solidFill>
                  <a:srgbClr val="A0AEC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28575">
              <a:solidFill>
                <a:srgbClr val="4CAF50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110</c:v>
                </c:pt>
                <c:pt idx="1">
                  <c:v>120</c:v>
                </c:pt>
                <c:pt idx="2">
                  <c:v>115</c:v>
                </c:pt>
                <c:pt idx="3">
                  <c:v>130</c:v>
                </c:pt>
                <c:pt idx="4">
                  <c:v>125</c:v>
                </c:pt>
                <c:pt idx="5">
                  <c:v>180</c:v>
                </c:pt>
                <c:pt idx="6">
                  <c:v>240</c:v>
                </c:pt>
                <c:pt idx="7">
                  <c:v>210</c:v>
                </c:pt>
                <c:pt idx="8">
                  <c:v>150</c:v>
                </c:pt>
                <c:pt idx="9">
                  <c:v>140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</c:v>
                </c:pt>
              </c:strCache>
            </c:strRef>
          </c:tx>
          <c:spPr>
            <a:ln w="19050">
              <a:solidFill>
                <a:srgbClr val="EF5350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900">
                <a:solidFill>
                  <a:srgbClr val="A0AEC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820</c:v>
                </c:pt>
                <c:pt idx="1">
                  <c:v>900</c:v>
                </c:pt>
                <c:pt idx="2">
                  <c:v>870</c:v>
                </c:pt>
                <c:pt idx="3">
                  <c:v>950</c:v>
                </c:pt>
                <c:pt idx="4">
                  <c:v>1010</c:v>
                </c:pt>
                <c:pt idx="5">
                  <c:v>990</c:v>
                </c:pt>
                <c:pt idx="6">
                  <c:v>1100</c:v>
                </c:pt>
                <c:pt idx="7">
                  <c:v>1050</c:v>
                </c:pt>
                <c:pt idx="8">
                  <c:v>980</c:v>
                </c:pt>
                <c:pt idx="9">
                  <c:v>1020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900">
                <a:solidFill>
                  <a:srgbClr val="A0AEC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28575">
              <a:solidFill>
                <a:srgbClr val="FF9800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102</c:v>
                </c:pt>
                <c:pt idx="2">
                  <c:v>101</c:v>
                </c:pt>
                <c:pt idx="3">
                  <c:v>104</c:v>
                </c:pt>
                <c:pt idx="4">
                  <c:v>103</c:v>
                </c:pt>
                <c:pt idx="5">
                  <c:v>99</c:v>
                </c:pt>
                <c:pt idx="6">
                  <c:v>96</c:v>
                </c:pt>
                <c:pt idx="7">
                  <c:v>94</c:v>
                </c:pt>
                <c:pt idx="8">
                  <c:v>92</c:v>
                </c:pt>
                <c:pt idx="9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A3A5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C"/>
            </a:solidFill>
          </a:ln>
        </c:spPr>
        <c:txPr>
          <a:bodyPr/>
          <a:lstStyle/>
          <a:p>
            <a:pPr>
              <a:defRPr sz="900">
                <a:solidFill>
                  <a:srgbClr val="A0AEC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A0AE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0:00 - Welcome (4 min for introductions starts here).</a:t>
            </a:r>
          </a:p>
          <a:p>
            <a:r>
              <a:t>Introduce yourself, then ask each participant: name, role, and one model they have built that never made it to production.</a:t>
            </a:r>
          </a:p>
          <a:p>
            <a:r>
              <a:t>Set the tone: today is hands-on. One case study - a loan-default model - travels through the whole production lifecycle in four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0:04 - Programme overview and objectives (3 min, together with ground rules).</a:t>
            </a:r>
          </a:p>
          <a:p>
            <a:r>
              <a:t>Read the mission. Point out that each outcome letter (a)-(h) maps to a module; checkpoints at the end of each module test them.</a:t>
            </a:r>
          </a:p>
          <a:p>
            <a:r>
              <a:t>Ground rules: cameras/attention on, ask questions any time, help your neighbour during hands-on, phones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roadmap left to right in under a minute. The coloured bar on top is proportional to time.</a:t>
            </a:r>
          </a:p>
          <a:p>
            <a:r>
              <a:t>Emphasise the checkpoints: nobody moves to the next module until the checkpoint works - pair up if someone is stuck.</a:t>
            </a:r>
          </a:p>
          <a:p>
            <a:r>
              <a:t>Timing note: the session plan allocates all 240 minutes to content. If the venue requires a comfort break, take 5 minutes from the Module 2 Optuna hands-on and 5 from the Module 4 dashboard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two numbers only if short on time: fewer than half of projects reach production, and leakage silently broke 294 published papers.</a:t>
            </a:r>
          </a:p>
          <a:p>
            <a:r>
              <a:t>Bridge: 'The models were not bad; the pipelines around them were. That is what we fix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0:07 - Ice breaking (5 min). Run a show-of-hands or chat poll: A, B or C.</a:t>
            </a:r>
          </a:p>
          <a:p>
            <a:r>
              <a:t>Expected answer: B. Ask a 'B' voter what they would want to see (recall, precision, confusion matrix, how the 1% was measured, whether the data leaks).</a:t>
            </a:r>
          </a:p>
          <a:p>
            <a:r>
              <a:t>Reveal: predicting the majority class gets 99% accuracy with zero recall. Mention the Session 02 notebook really produces this result - we will revisit it in Module 1.</a:t>
            </a:r>
          </a:p>
          <a:p>
            <a:r>
              <a:t>Transition: 'Accuracy is the first trap. Leakage is the second, and it is harder to see.'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0:12 - Environment check (3 min). Everyone opens the student notebook and runs the first cell.</a:t>
            </a:r>
          </a:p>
          <a:p>
            <a:r>
              <a:t>Checkpoint: every participant runs the first notebook cell without error. Helpers: pair anyone who fails with a neighbour; fix during Module 1 lecture time if needed.</a:t>
            </a:r>
          </a:p>
          <a:p>
            <a:r>
              <a:t>Point at the colour coding: green = Module 1, orange = Module 2, indigo = Module 3, red = Module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0:15 - Module 1 starts. Outcomes (a) choose the approach and (b) detect leakage and build a leakage-free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0:15 - Choosing the right approach (10 min total for this and the next slide).</a:t>
            </a:r>
          </a:p>
          <a:p>
            <a:r>
              <a:t>Key message: these are nested, not rivals. An LLM is a deep learning model, which is a machine learning model, which is AI.</a:t>
            </a:r>
          </a:p>
          <a:p>
            <a:r>
              <a:t>Ask: 'Which layer does our loan-default model belong to?' Answer: ML - tabular data, classic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third column and let participants call out the answer for each row (2 minutes).</a:t>
            </a:r>
          </a:p>
          <a:p>
            <a:r>
              <a:t>Discussion prompt: 'Why not use an LLM for loan default?' - tabular data, need for calibrated probabilities, regulatory explainability, cost and latency.</a:t>
            </a:r>
          </a:p>
          <a:p>
            <a:r>
              <a:t>Source activity: day1/01_ai_ml_dl_llm_landscape README, Activity 1 (10 business problems) if you want a longer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0:25 - Data quality and data leakage (10 min for this and the next slide).</a:t>
            </a:r>
          </a:p>
          <a:p>
            <a:r>
              <a:t>The completeness and accuracy figures are real outputs of the Session 02 notebook's loan dataset.</a:t>
            </a:r>
          </a:p>
          <a:p>
            <a:r>
              <a:t>Ask: 'Which missingness type is most dangerous?' MNAR - the fact that a value is missing carries signal, and naive imputation hides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about 90 seconds per type. For each, ask the room for one example from their own work.</a:t>
            </a:r>
          </a:p>
          <a:p>
            <a:r>
              <a:t>Note: the coloured lines here mirror the Session 05 transparency-spectrum styling.</a:t>
            </a:r>
          </a:p>
          <a:p>
            <a:r>
              <a:t>Transition: 'Now you will hunt for every one of these in a real dataset.'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0:35 - Finding leakage (15 min). Individual work for 8 minutes, then compare with a neighbour for 3 minutes, then reveal (next slide) for 4 minutes.</a:t>
            </a:r>
          </a:p>
          <a:p>
            <a:r>
              <a:t>Known issue for the trainer: in the current notebook one 'leaky model' cell raises a NaN error (the second copy of the cell imputes first and works), and the clean AUC values are below 0.5 because the synthetic data has only about 8 defaults. Use it as a discussion point about rare classes; do not present those AUCs as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one band at a time. The RISKY band generates the best discussion: dates and IDs are not leaks in themselves, but using them as features or ignoring them in the split creates temporal and group leakage.</a:t>
            </a:r>
          </a:p>
          <a:p>
            <a:r>
              <a:t>Ask: 'How would you prove days_since_last_payment is safe?' - check the data dictionary for its as-of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0:50 - Leakage-free pipelines and validation (20 min for this slide and the next three).</a:t>
            </a:r>
          </a:p>
          <a:p>
            <a:r>
              <a:t>Point out that both rows use exactly the same steps; only the order and the split strategy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Live-code or walk through this cell from the Session 02 notebook ('Full loan default workflow with temporal split').</a:t>
            </a:r>
          </a:p>
          <a:p>
            <a:r>
              <a:t>Emphasise handle_unknown='ignore': new loan types in production will not crash the pipeline.</a:t>
            </a:r>
          </a:p>
          <a:p>
            <a:r>
              <a:t>Ask: 'Where would target encoding go?' Inside the Pipeline too, otherwise it is train-test contamination.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loan case: TimeSeriesSplit for tuning (applications arrive over time) plus a final holdout of the newest 20%. If customers repeat, combine time ordering with grouping (no customer in both sides).</a:t>
            </a:r>
          </a:p>
          <a:p>
            <a:r>
              <a:t>Demo: the 'Visualise TimeSeriesSplit folds' cell in the Session 02 notebook draws this exact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1:05 - Module 1 checkpoint (last 5 minutes of the module). Walk the room; each participant shows the four ticks.</a:t>
            </a:r>
          </a:p>
          <a:p>
            <a:r>
              <a:t>Ask the quiz questions aloud; cold-call 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1:10 - Module 2 starts. Outcomes (c) modular, reproducible scripts and (d) Optuna tuning with MLflow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1:10 - From notebook to modular scripts (15 min for this slide and the next).</a:t>
            </a:r>
          </a:p>
          <a:p>
            <a:r>
              <a:t>Open each file briefly in the IDE. Ask: 'If the data source moves from CSV to a database, which file changes?' Only data_loader.py.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Important: always pass --config explicitly. The default path in main.py is Windows-style and will not resolve on macOS/Linux.</a:t>
            </a:r>
          </a:p>
          <a:p>
            <a:r>
              <a:t>Paths inside config.yaml are relative to the repository root, so run the command from the root.</a:t>
            </a:r>
          </a:p>
          <a:p>
            <a:r>
              <a:t>If data/production_training_sample.csv is missing, data_loader.py generates a synthetic dataset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1:25 - Hyperparameter optimisation (20 min for this and the next two slides, including 10 min hands-on).</a:t>
            </a:r>
          </a:p>
          <a:p>
            <a:r>
              <a:t>Quick check: ask the room to classify 'number of trees' (hyper) and 'feature weight' (parameter).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grid's problem: only 5 distinct values of max_depth are ever tried. If only one hyperparameter matters, random search tests 25 distinct values of it with the same budget.</a:t>
            </a:r>
          </a:p>
          <a:p>
            <a:r>
              <a:t>Bayesian search (Optuna's default TPE sampler) spends the first trials exploring, then exploits the promising region - visible as the orange cluster.</a:t>
            </a:r>
          </a:p>
          <a:p>
            <a:r>
              <a:t>Points are simulated for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Participants run the Optuna cells. 30 trials with 5-fold CV on a small dataset takes about a minute on a laptop; reduce n_trials to 15 on slow machines.</a:t>
            </a:r>
          </a:p>
          <a:p>
            <a:r>
              <a:t>While it runs, ask: 'Why cross_val_score and not the test set?' (golden rule from two slides ago).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1:45 - Experiment tracking (20 min for this and the next slide, including hands-on).</a:t>
            </a:r>
          </a:p>
          <a:p>
            <a:r>
              <a:t>Stretch idea for fast participants: log every Optuna trial as a nested run using mlflow.start_run(nested=True) inside the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Participants open the MLflow UI and find their run. Show the Compare view and the parallel-coordinates plot.</a:t>
            </a:r>
          </a:p>
          <a:p>
            <a:r>
              <a:t>Discuss trial 22: higher complexity with no gain is not a better model - prefer simpler when scores tie (cheaper to serve, easier to explain).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2:00 - Module 2 checkpoint (5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2:05 - Module 3 starts. Outcomes (e) SHAP explanations in business language and (f) drift detection with PSI and 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2:05 - Explaining models with SHAP (20 min for this and the next two slides).</a:t>
            </a:r>
          </a:p>
          <a:p>
            <a:r>
              <a:t>Condensed from Session 05 slides 3-4. Keep this to 3 minutes; the hands-on is what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TreeExplainer is exact and fast for tree ensembles (polynomial time), so it is the default choice for our random forest / gradient boosting models.</a:t>
            </a:r>
          </a:p>
          <a:p>
            <a:r>
              <a:t>Hands-on: participants run the SHAP cells in day1/05_explainability_xai/notebook.ipynb.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(beeswarm): every dot is one applicant. Ask: 'What does a red dot far to the right on missed_payments mean?' - many missed payments, strong push towards default.</a:t>
            </a:r>
          </a:p>
          <a:p>
            <a:r>
              <a:t>Local (waterfall): walk the arithmetic. 0.26 + (-0.07 + 0.11 - 0.22 - 0.22 - 0.68 - 1.88) = -2.70. Additivity makes it auditable.</a:t>
            </a:r>
          </a:p>
          <a:p>
            <a:r>
              <a:t>Audience rule: executives get a mean |SHAP| bar chart of the top 5 drivers; underwriters get the waterfall.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2:25 - From explanation to business narrative (10 min). 6 minutes writing, 4 minutes pair review.</a:t>
            </a:r>
          </a:p>
          <a:p>
            <a:r>
              <a:t>Collect one or two strong examples and read them aloud. Checkpoint artefact for Module 3, part 1: one written plain-language explanation.</a:t>
            </a:r>
          </a:p>
          <a:p>
            <a:r>
              <a:t>Avoid: feature names without values ('credit score was important'), jargon ('log-odds'), and no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2:35 - Detecting data drift (15 min for this and the next two slides).</a:t>
            </a:r>
          </a:p>
          <a:p>
            <a:r>
              <a:t>Key point: feature drift can be measured immediately; concept drift needs labels, and loan defaults take months to arrive. That delay is why input monitoring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is computed by build_deck.py from a seeded simulation (training n=5,000 vs production n=2,000), using the same PSI function as the Session 06 notebook.</a:t>
            </a:r>
          </a:p>
          <a:p>
            <a:r>
              <a:t>credit_utilization crosses the alert line; age is in the watch band. Ask: 'What business event could cause both?' - e.g. a marketing push to younger, more leveraged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Participants build this table in the Session 06 notebook (simulate a shift, compute PSI and KS per feature).</a:t>
            </a:r>
          </a:p>
          <a:p>
            <a:r>
              <a:t>Checkpoint artefact for Module 3, part 2: a PSI table with drifted features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2:50 - Anomaly detection and alert thresholds (10 min). Run the Isolation Forest cells from the Session 06 notebook live (inject 5% anomalies, show how many are caught).</a:t>
            </a:r>
          </a:p>
          <a:p>
            <a:r>
              <a:t>Then ask the room to agree the cadence table for the loan model. The thresholds shown are starting points; teams tune them to avoid alert fatigue.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2:55 - Module 3 checkpoint (5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3:00 - Module 4 starts. Outcomes (g) FastAPI in Docker and (h) production monitoring and the Azure ML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3:00 - Serving a model as a containerised API (20 min for this and the next two slides).</a:t>
            </a:r>
          </a:p>
          <a:p>
            <a:r>
              <a:t>Analogy: client = diner, API = waiter, model = chef. Docker ships the whole kitchen so it works identically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repository app uses a rule-based stand-in model on purpose, so the Docker exercise works without training first.</a:t>
            </a:r>
          </a:p>
          <a:p>
            <a:r>
              <a:t>Demo: uvicorn main:app --reload, open http://localhost:8000/docs, send age=7 to show the 422 validation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Participants build and run the container (about 8 minutes; the first build downloads the python:3.11-slim base image, so ask people to pre-pull it at the start of the session if Wi-Fi is slow).</a:t>
            </a:r>
          </a:p>
          <a:p>
            <a:r>
              <a:t>Troubleshooting: port 8000 already in use -&gt; docker run -p 8001:8000; Docker Desktop not running -&gt; start it and retry.</a:t>
            </a:r>
          </a:p>
          <a:p>
            <a:r>
              <a:t>Cleanup after: docker rm -f loan-api.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3:20 - The MLOps dashboard (15 min for this and the next slide). Values are illustrative.</a:t>
            </a:r>
          </a:p>
          <a:p>
            <a:r>
              <a:t>Read the dashboard as a story: AUC is sliding towards the SLO line, predicted default rate is rising, and credit_utilization PSI is in alert - consistent with the drift found in Module 3. Latency spiked mid-period but stayed within SLO.</a:t>
            </a:r>
          </a:p>
          <a:p>
            <a:r>
              <a:t>Hands-on option: run the six-panel cell in day1/08_mlops_dashboard/notebook.ipynb.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'Which of these SLOs can you measure on day one, and which need to wait for labels?' (System and data immediately; model performance waits for loan outcomes.)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3:35 - Moving to Azure Machine Learning (15 min, trainer demonstration). Uses the trainer's workspace and the Day 2 Session 10 assets (environment credit-model-env:1, compute cpu-cluster).</a:t>
            </a:r>
          </a:p>
          <a:p>
            <a:r>
              <a:t>Key message: nothing learned today is thrown away. The script, the MLflow calls and the model artefact move to the cloud unchanged; Azure adds managed compute, a registry and endpoints.</a:t>
            </a:r>
          </a:p>
          <a:p>
            <a:r>
              <a:t>Fallback if the network fails: walk through the screenshots in day2/02_cloud_training_experiment.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3:50 - Back-to-work action plan and wrap-up (10 min: 5 min writing, 5 min takeaways, questions and feedback).</a:t>
            </a:r>
          </a:p>
          <a:p>
            <a:r>
              <a:t>Hand out the personal action plan template. Ask two volunteers to share item 5.</a:t>
            </a:r>
          </a:p>
          <a:p>
            <a:r>
              <a:t>Checkpoint: each participant leaves with a personal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one takeaway per module, take final questions, then share the feedback form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4:00 - Close. Thank participants; remind them that Day 2 builds on today's scripts in Azure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Relationship Id="rId6" Type="http://schemas.openxmlformats.org/officeDocument/2006/relationships/chart" Target="../charts/chart9.xml"/><Relationship Id="rId7" Type="http://schemas.openxmlformats.org/officeDocument/2006/relationships/chart" Target="../charts/chart10.xml"/><Relationship Id="rId8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36008" y="160020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636008" y="160020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Calibri"/>
              </a:rPr>
              <a:t>DAY 1  ·  FULL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015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Advanced Machine Learning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A0AEC4"/>
                </a:solidFill>
                <a:latin typeface="Calibri"/>
              </a:rPr>
              <a:t>From leakage-free pipelines to deployed models: one loan-default case study, end to 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452628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55848" y="45262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Day 1   |   4 Hours   |   240 Minutes   |   4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8EA8"/>
                </a:solidFill>
                <a:latin typeface="Calibri"/>
              </a:rPr>
              <a:t>Trainer: Muhamad Majed Tuah Bin Mohd Hafizuddin   ·   23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530352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Programme Goals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INTRO · 0:00–0:15   |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4892040"/>
          </a:xfrm>
          <a:prstGeom prst="roundRect">
            <a:avLst>
              <a:gd name="adj" fmla="val 224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Calibri"/>
              </a:rP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Core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A0AEC4"/>
                </a:solidFill>
                <a:latin typeface="Calibri"/>
              </a:rPr>
              <a:t>Most organisations already use AI, yet fewer than half of AI projects reach production.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A0AEC4"/>
                </a:solidFill>
                <a:latin typeface="Calibri"/>
              </a:rPr>
              <a:t>This programme closes the gap between a model that works in a notebook and a service that stays accurate, explainable and monitored after go-live.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A0AEC4"/>
                </a:solidFill>
                <a:latin typeface="Calibri"/>
              </a:rPr>
              <a:t>Every exercise uses open-source tools you can adopt at no licence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4937760" cy="594360"/>
          </a:xfrm>
          <a:prstGeom prst="roundRect">
            <a:avLst>
              <a:gd name="adj" fmla="val 12307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Key Principle: a model only creates value once it can be trusted in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25880"/>
            <a:ext cx="5486400" cy="4892040"/>
          </a:xfrm>
          <a:prstGeom prst="roundRect">
            <a:avLst>
              <a:gd name="adj" fmla="val 224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519672" y="160020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9672" y="160020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7986CB"/>
                </a:solidFill>
                <a:latin typeface="Calibri"/>
              </a:rPr>
              <a:t>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057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Key Learning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5603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By the end of these 4 hours, you will be able to: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26080"/>
            <a:ext cx="50749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(a) Choose classic ML, deep learning or an LLM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(b) Detect leakage; build a leakage-free pipeline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(c) Organise training into reproducible scripts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(d) Tune with Optuna and track runs with MLflow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(e) Explain predictions with SHAP in plain language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(f) Detect drift with PSI and KS; set alert thresholds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(g) Serve a model with FastAPI inside Docker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(h) Monitor in production; map the flow to Azure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Your 4-Hour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Four modules, one case study, a checkpoint at the end of every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INTRO · 0:00–0:15   |  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68083" cy="1463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161859" y="1417320"/>
            <a:ext cx="2547175" cy="146304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745610" y="1417320"/>
            <a:ext cx="2547175" cy="14630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329362" y="1417320"/>
            <a:ext cx="2547175" cy="146304"/>
          </a:xfrm>
          <a:prstGeom prst="rect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913114" y="1417320"/>
            <a:ext cx="2782062" cy="146304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" y="192024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0:00–0:15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240280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Welcome &amp; Ice Breaker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127248"/>
            <a:ext cx="86868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792" y="31272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Calibri"/>
              </a:rPr>
              <a:t>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182879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Introductions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Objectives &amp; ground rules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"Would you ship it?"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Environment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49240"/>
            <a:ext cx="1883663" cy="731520"/>
          </a:xfrm>
          <a:prstGeom prst="roundRect">
            <a:avLst>
              <a:gd name="adj" fmla="val 10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5376672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4CAF50"/>
                </a:solidFill>
                <a:latin typeface="Calibri"/>
              </a:rPr>
              <a:t>CHECKPOINT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First notebook cell runs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0058" y="178308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914650" y="192024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0:15–1:10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4650" y="2240280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Trustworthy Data &amp; Leakage-Free Pipelines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14650" y="3127248"/>
            <a:ext cx="86868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914650" y="31272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4CAF50"/>
                </a:solidFill>
                <a:latin typeface="Calibri"/>
              </a:rPr>
              <a:t>55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4650" y="3566160"/>
            <a:ext cx="182879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CAF5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ML vs DL vs LLM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CAF5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Data quality &amp; leakage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CAF5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Hands-on: find the leaks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CAF5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Pipelines &amp; time splits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9786" y="5349240"/>
            <a:ext cx="1883663" cy="731520"/>
          </a:xfrm>
          <a:prstGeom prst="roundRect">
            <a:avLst>
              <a:gd name="adj" fmla="val 10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951226" y="5376672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4CAF50"/>
                </a:solidFill>
                <a:latin typeface="Calibri"/>
              </a:rPr>
              <a:t>CHECKPOINT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Leak-free pipeline on a time split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2916" y="178308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07507" y="192024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1:10–2:05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7507" y="2240280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Production Training, Tuning &amp; Tracking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07507" y="3127248"/>
            <a:ext cx="86868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07507" y="31272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9800"/>
                </a:solidFill>
                <a:latin typeface="Calibri"/>
              </a:rPr>
              <a:t>55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7507" y="3566160"/>
            <a:ext cx="182879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980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Notebook to scripts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980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Grid / random / Bayesian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980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Hands-on: Optuna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980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MLflow tracking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52644" y="5349240"/>
            <a:ext cx="1883663" cy="731520"/>
          </a:xfrm>
          <a:prstGeom prst="roundRect">
            <a:avLst>
              <a:gd name="adj" fmla="val 10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244083" y="5376672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4CAF50"/>
                </a:solidFill>
                <a:latin typeface="Calibri"/>
              </a:rPr>
              <a:t>CHECKPOINT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Best trial visible in MLflow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35773" y="178308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00365" y="192024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2:05–3:00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0365" y="2240280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Explainability &amp; Drift Monitoring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00365" y="3127248"/>
            <a:ext cx="86868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00365" y="31272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7986CB"/>
                </a:solidFill>
                <a:latin typeface="Calibri"/>
              </a:rPr>
              <a:t>55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0365" y="3566160"/>
            <a:ext cx="182879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7986CB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SHAP global &amp; local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7986CB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Business narrative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7986CB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PSI &amp; KS drift tests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7986CB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Anomalies &amp; thresholds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45501" y="5349240"/>
            <a:ext cx="1883663" cy="731520"/>
          </a:xfrm>
          <a:prstGeom prst="roundRect">
            <a:avLst>
              <a:gd name="adj" fmla="val 10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536942" y="5376672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4CAF50"/>
                </a:solidFill>
                <a:latin typeface="Calibri"/>
              </a:rPr>
              <a:t>CHECKPOINT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Explanation + PSI 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28632" y="178308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793224" y="1920240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3:00–4:00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3224" y="2240280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Serving, Monitoring &amp; Cloud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93224" y="3127248"/>
            <a:ext cx="86868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793224" y="31272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60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93224" y="3566160"/>
            <a:ext cx="182879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F535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FastAPI + Docker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F535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Six-panel dashboard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F535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Azure ML demo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F5350"/>
                </a:solidFill>
                <a:latin typeface="Calibri"/>
              </a:rPr>
              <a:t>›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Action plan &amp; wrap-up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8359" y="5349240"/>
            <a:ext cx="1883663" cy="731520"/>
          </a:xfrm>
          <a:prstGeom prst="roundRect">
            <a:avLst>
              <a:gd name="adj" fmla="val 10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829800" y="5376672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4CAF50"/>
                </a:solidFill>
                <a:latin typeface="Calibri"/>
              </a:rPr>
              <a:t>CHECKPOINT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curl returns a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This Programme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Adoption is high, but production is the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INTRO · 0:00–0:15   |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4FC3F7"/>
                </a:solidFill>
                <a:latin typeface="Calibri"/>
              </a:rPr>
              <a:t>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 organisations used AI in 2024, up from 55% a year earlier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Stanford AI Index,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41732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07992" y="155448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9800"/>
                </a:solidFill>
                <a:latin typeface="Calibri"/>
              </a:rPr>
              <a:t>&lt;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317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 AI projects reach production; prototype to production takes ~8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3017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Gartner via Wilkinson,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41732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30183" y="155448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EF5350"/>
                </a:solidFill>
                <a:latin typeface="Calibri"/>
              </a:rPr>
              <a:t>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3317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published papers across 17 fields were affected by data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3017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Kapoor &amp; Narayanan, 2023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7986CB"/>
                </a:solidFill>
                <a:latin typeface="Calibri"/>
              </a:rPr>
              <a:t>63%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805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 employers say skill gaps are the biggest barrier to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World Economic Forum, 2025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356616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07992" y="37033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4CAF50"/>
                </a:solidFill>
                <a:latin typeface="Calibri"/>
              </a:rPr>
              <a:t>59%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4805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 Malaysian organisations have deployed or are piloting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Aon,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56616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30183" y="37033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EF5350"/>
                </a:solidFill>
                <a:latin typeface="Calibri"/>
              </a:rPr>
              <a:t>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44805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 Malaysian organisations are confident they can hire enough AI talent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Aon,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150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5800" y="57150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Sculley et al. (2015):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real-world ML systems carry large hidden technical debt. Today we practise the habits that keep that debt small.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Ice Breaker: Would You Ship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Poll: vote A, B or C before the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INTRO · 0:00–0:15   |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120640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9800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99%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0AEC4"/>
                </a:solidFill>
                <a:latin typeface="Calibri"/>
              </a:rPr>
              <a:t>on a loan book where only 1% of borrowers default. Your manager wants it live on Monday.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41248" y="4059935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F1A2E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39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Ship it, 99% is excellent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41248" y="4745736"/>
            <a:ext cx="384048" cy="384048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F1A2E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 need to see more metrics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4924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1248" y="5431536"/>
            <a:ext cx="384048" cy="384048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F1A2E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492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Reject it outright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1417320"/>
            <a:ext cx="5879592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126480" y="164592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26480" y="164592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Calibri"/>
              </a:rPr>
              <a:t>REVEAL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05740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 model that always says "no default" scores 99% and catches zero defaulters.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8EA8"/>
                </a:solidFill>
                <a:latin typeface="Calibri"/>
              </a:rPr>
              <a:t>Per 1,000 loans (always predicts "no default")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10896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26480" y="3154679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A0AEC4"/>
                </a:solidFill>
                <a:latin typeface="Calibri"/>
              </a:rPr>
              <a:t>990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118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True negative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10896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5240" y="3154679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A0AEC4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6118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False positive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0690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3A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26480" y="411480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EF5350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57200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Missed defaults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40690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3A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35240" y="411480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EF5350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57200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Caught defaults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108960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Accuracy  99%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Recall  0%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Business value  none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51663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63640" y="516636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Seen in our own Session 02 notebook: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99.2% accuracy, 0 of 2 test defaults caught. Choose metrics that match the business cost: recall, precision, PR-AUC.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One Case Study, the Full Production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A loan-default model travels through every stage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INTRO · 0:00–0:15   |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40080" y="181051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45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Choose the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CAF50"/>
                </a:solidFill>
                <a:latin typeface="Calibri"/>
              </a:rPr>
              <a:t>ML vs DL vs LLM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27248" y="2057400"/>
            <a:ext cx="173736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19272" y="146304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02152" y="181051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1645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Leakage-free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2" y="21031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CAF50"/>
                </a:solidFill>
                <a:latin typeface="Calibri"/>
              </a:rPr>
              <a:t>scikit-learn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2057400"/>
            <a:ext cx="173736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1344" y="146304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364224" y="1810512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645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Modular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21031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9800"/>
                </a:solidFill>
                <a:latin typeface="Calibri"/>
              </a:rPr>
              <a:t>Python + YAML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51392" y="2057400"/>
            <a:ext cx="173736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43416" y="146304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226296" y="1810512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16459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Tune &amp;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21031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9800"/>
                </a:solidFill>
                <a:latin typeface="Calibri"/>
              </a:rPr>
              <a:t>Optuna + MLflow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88036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0080" y="3227832"/>
            <a:ext cx="502920" cy="502920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F1A2E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063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Explain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52044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986CB"/>
                </a:solidFill>
                <a:latin typeface="Calibri"/>
              </a:rPr>
              <a:t>SHAP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27248" y="3474720"/>
            <a:ext cx="173736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319272" y="288036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502152" y="3227832"/>
            <a:ext cx="502920" cy="502920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F1A2E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3063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Watch for drift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42232" y="352044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986CB"/>
                </a:solidFill>
                <a:latin typeface="Calibri"/>
              </a:rPr>
              <a:t>PSI · KS · Isolation Forest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3474720"/>
            <a:ext cx="173736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181344" y="288036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64224" y="3227832"/>
            <a:ext cx="502920" cy="50292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F1A2E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063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Serve as an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4304" y="352044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F5350"/>
                </a:solidFill>
                <a:latin typeface="Calibri"/>
              </a:rPr>
              <a:t>FastAPI + Docker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51392" y="3474720"/>
            <a:ext cx="173736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43416" y="2880360"/>
            <a:ext cx="265176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226296" y="3227832"/>
            <a:ext cx="502920" cy="50292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F1A2E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6376" y="3063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Monitor &amp; scale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66376" y="352044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F5350"/>
                </a:solidFill>
                <a:latin typeface="Calibri"/>
              </a:rPr>
              <a:t>Dashboard + Azure ML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434840"/>
            <a:ext cx="11274552" cy="1783080"/>
          </a:xfrm>
          <a:prstGeom prst="roundRect">
            <a:avLst>
              <a:gd name="adj" fmla="val 6153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731520" y="4645152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1520" y="464515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ENVIRONMENT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0749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Python 3.11, Git and Docker Desktop installed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Repository cloned from the students branch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0" y="46177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378440" y="46908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TERMINAL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782312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FC3F7"/>
                </a:solidFill>
                <a:latin typeface="Consolas"/>
              </a:rPr>
              <a:t>$ cd advance-ml-fama &amp;&amp; jupyter lab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7FB77E"/>
                </a:solidFill>
                <a:latin typeface="Consolas"/>
              </a:rPr>
              <a:t># open day1/01_ai_ml_dl_llm_landscape/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7FB77E"/>
                </a:solidFill>
                <a:latin typeface="Consolas"/>
              </a:rPr>
              <a:t>#      ai_ml_landscape_student.ipynb  -&gt; run cell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852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Trustworthy Data &amp; Leakage-Free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CAF50"/>
                </a:solidFill>
                <a:latin typeface="Calibri"/>
              </a:rPr>
              <a:t>55 minutes</a:t>
            </a:r>
            <a:r>
              <a:rPr sz="1600" b="0" i="0">
                <a:solidFill>
                  <a:srgbClr val="A0AEC4"/>
                </a:solidFill>
                <a:latin typeface="Calibri"/>
              </a:rPr>
              <a:t>   |   0:15 – 1:10   |   Outcomes (a) and (b)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694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IN THIS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659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406640" y="2130552"/>
            <a:ext cx="420624" cy="420624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03911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Choosing the right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03911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10m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834639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06640" y="2999232"/>
            <a:ext cx="420624" cy="420624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907791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 quality and data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2907791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10m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7033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406640" y="3867911"/>
            <a:ext cx="420624" cy="420624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77647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Hands-on: finding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77647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15m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45720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06640" y="4736592"/>
            <a:ext cx="420624" cy="420624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64515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Leakage-free pipelines &amp;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464515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20m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AI, ML, DL and LLMs: Nested, Not Competing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Each layer is a specialised subset of the one around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394960" cy="4800600"/>
          </a:xfrm>
          <a:prstGeom prst="roundRect">
            <a:avLst>
              <a:gd name="adj" fmla="val 4761"/>
            </a:avLst>
          </a:prstGeom>
          <a:solidFill>
            <a:srgbClr val="17274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FC3F7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4754880" cy="3977639"/>
          </a:xfrm>
          <a:prstGeom prst="roundRect">
            <a:avLst>
              <a:gd name="adj" fmla="val 5747"/>
            </a:avLst>
          </a:prstGeom>
          <a:solidFill>
            <a:srgbClr val="1E2F50"/>
          </a:solidFill>
          <a:ln w="1587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CAF50"/>
                </a:solidFill>
                <a:latin typeface="Calibri"/>
              </a:rPr>
              <a:t>MACHINE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514600"/>
            <a:ext cx="4114800" cy="3154680"/>
          </a:xfrm>
          <a:prstGeom prst="roundRect">
            <a:avLst>
              <a:gd name="adj" fmla="val 7246"/>
            </a:avLst>
          </a:prstGeom>
          <a:solidFill>
            <a:srgbClr val="2A355C"/>
          </a:solidFill>
          <a:ln w="15875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25880" y="26243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9800"/>
                </a:solidFill>
                <a:latin typeface="Calibri"/>
              </a:rPr>
              <a:t>DEEP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063240"/>
            <a:ext cx="3474720" cy="2331720"/>
          </a:xfrm>
          <a:prstGeom prst="roundRect">
            <a:avLst>
              <a:gd name="adj" fmla="val 9803"/>
            </a:avLst>
          </a:prstGeom>
          <a:solidFill>
            <a:srgbClr val="3A3F6E"/>
          </a:solidFill>
          <a:ln w="15875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645920" y="3172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F5350"/>
                </a:solidFill>
                <a:latin typeface="Calibri"/>
              </a:rPr>
              <a:t>LARGE LANGUAGE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576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GPT, Llama, Claude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Transformers trained on huge text corpora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5605272" cy="1078992"/>
          </a:xfrm>
          <a:prstGeom prst="roundRect">
            <a:avLst>
              <a:gd name="adj" fmla="val 10169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09360" y="1682496"/>
            <a:ext cx="548640" cy="548640"/>
          </a:xfrm>
          <a:prstGeom prst="ellipse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F1A2E"/>
                </a:solidFill>
                <a:latin typeface="Calibri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50876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Any system that mimics intelligent behaviour: rules, search, planning or learning.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633472"/>
            <a:ext cx="5605272" cy="1078992"/>
          </a:xfrm>
          <a:prstGeom prst="roundRect">
            <a:avLst>
              <a:gd name="adj" fmla="val 10169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309360" y="2898648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F1A2E"/>
                </a:solidFill>
                <a:latin typeface="Calibri"/>
              </a:rPr>
              <a:t>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724912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Learns patterns from examples. Gradient boosting and random forests dominate tabular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849624"/>
            <a:ext cx="5605272" cy="1078992"/>
          </a:xfrm>
          <a:prstGeom prst="roundRect">
            <a:avLst>
              <a:gd name="adj" fmla="val 10169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309360" y="411480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F1A2E"/>
                </a:solidFill>
                <a:latin typeface="Calibri"/>
              </a:rPr>
              <a:t>DL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41063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Multi-layer neural networks that learn features from raw images, audio and sequences.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065776"/>
            <a:ext cx="5605272" cy="1078992"/>
          </a:xfrm>
          <a:prstGeom prst="roundRect">
            <a:avLst>
              <a:gd name="adj" fmla="val 10169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309360" y="5330952"/>
            <a:ext cx="548640" cy="54864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F1A2E"/>
                </a:solidFill>
                <a:latin typeface="Calibri"/>
              </a:rPr>
              <a:t>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157216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Deep learning models for language: summarise, answer, draft and reason over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Choosing the Right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Let the shape of the data, not the hype, pick the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4552" cy="3712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6120"/>
                <a:gridCol w="1920240"/>
                <a:gridCol w="3017520"/>
                <a:gridCol w="3090672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Business problem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Data shape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Predict loan default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Tabular rows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CAF50"/>
                          </a:solidFill>
                          <a:latin typeface="Calibri"/>
                        </a:rPr>
                        <a:t>Classic ML (gradient boosting)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Accurate, fast, explainable with SHAP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Segment customers with no labels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Tabular, no target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CAF50"/>
                          </a:solidFill>
                          <a:latin typeface="Calibri"/>
                        </a:rPr>
                        <a:t>Unsupervised ML (clustering)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Finds groups without labelled examples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Forecast 7-day electricity demand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Time series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CAF50"/>
                          </a:solidFill>
                          <a:latin typeface="Calibri"/>
                        </a:rPr>
                        <a:t>Classic ML / forecasting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Lags and seasonality; cheap to retrain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Detect defects on a conveyor camera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F9800"/>
                          </a:solidFill>
                          <a:latin typeface="Calibri"/>
                        </a:rPr>
                        <a:t>Deep learning (CNN)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Learns visual features automatically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Transcribe customer service calls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F9800"/>
                          </a:solidFill>
                          <a:latin typeface="Calibri"/>
                        </a:rPr>
                        <a:t>Deep learning (speech model)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Pretrained models handle raw audio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Answer staff questions from policy PDFs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Unstructured text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F5350"/>
                          </a:solidFill>
                          <a:latin typeface="Calibri"/>
                        </a:rPr>
                        <a:t>LLM + retrieval (RAG)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Grounds answers in your own documents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2578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525780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Rule of thumb: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most enterprise data is tabular, so start with classic ML. Reach for deep learning or LLMs when the data is images, audio or free text.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Quick poll: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cover the 'Best fit' column and let the room call each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Five Dimensions of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Check them before you trust any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130552" cy="2514600"/>
          </a:xfrm>
          <a:prstGeom prst="roundRect">
            <a:avLst>
              <a:gd name="adj" fmla="val 515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659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Schema and types are as expected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26080"/>
            <a:ext cx="1911095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92608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6B8EA8"/>
                </a:solidFill>
                <a:latin typeface="Calibri"/>
              </a:rPr>
              <a:t>LOAN DATA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credit_score arrives as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17320"/>
            <a:ext cx="2130552" cy="2514600"/>
          </a:xfrm>
          <a:prstGeom prst="roundRect">
            <a:avLst>
              <a:gd name="adj" fmla="val 515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07792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CAF50"/>
                </a:solidFill>
                <a:latin typeface="Calibri"/>
              </a:rPr>
              <a:t>Completeness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19659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Missing values are limited and understood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8" y="2926080"/>
            <a:ext cx="1911095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44368" y="292608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6B8EA8"/>
                </a:solidFill>
                <a:latin typeface="Calibri"/>
              </a:rPr>
              <a:t>LOAN DATA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8.8% of annual_income missing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417320"/>
            <a:ext cx="2130552" cy="2514600"/>
          </a:xfrm>
          <a:prstGeom prst="roundRect">
            <a:avLst>
              <a:gd name="adj" fmla="val 515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93792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9800"/>
                </a:solidFill>
                <a:latin typeface="Calibri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19659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Values are correct and realistic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2926080"/>
            <a:ext cx="1911095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30368" y="292608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6B8EA8"/>
                </a:solidFill>
                <a:latin typeface="Calibri"/>
              </a:rPr>
              <a:t>LOAN DATA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11.9% of incomes outside IQR fences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417320"/>
            <a:ext cx="2130552" cy="2514600"/>
          </a:xfrm>
          <a:prstGeom prst="roundRect">
            <a:avLst>
              <a:gd name="adj" fmla="val 515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79792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986CB"/>
                </a:solidFill>
                <a:latin typeface="Calibri"/>
              </a:rPr>
              <a:t>Timeliness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19659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is fresh enough for the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24927" y="2926080"/>
            <a:ext cx="1911095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6368" y="292608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6B8EA8"/>
                </a:solidFill>
                <a:latin typeface="Calibri"/>
              </a:rPr>
              <a:t>LOAN DATA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Bureau score pulled 6 months ago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417320"/>
            <a:ext cx="2130552" cy="2514600"/>
          </a:xfrm>
          <a:prstGeom prst="roundRect">
            <a:avLst>
              <a:gd name="adj" fmla="val 515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765792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5350"/>
                </a:solidFill>
                <a:latin typeface="Calibri"/>
              </a:rPr>
              <a:t>Validity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19659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Values respect business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10928" y="2926080"/>
            <a:ext cx="1911095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802368" y="292608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6B8EA8"/>
                </a:solidFill>
                <a:latin typeface="Calibri"/>
              </a:rPr>
              <a:t>LOAN DATA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Negative employment_years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WHY IS IT MISSING?  The answer changes the fix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3639312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MCAR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Missing completely at random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8EA8"/>
                </a:solidFill>
                <a:latin typeface="Calibri"/>
              </a:rPr>
              <a:t>e.g.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A form field dropped by a system glitch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Simple imputation is fine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9392" y="4480560"/>
            <a:ext cx="3639312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462272" y="457200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MAR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Depends on other observed columns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8EA8"/>
                </a:solidFill>
                <a:latin typeface="Calibri"/>
              </a:rPr>
              <a:t>e.g.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Income blank more often for self-employed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Impute using the related columns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4480560"/>
            <a:ext cx="3639312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84463" y="457200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MNAR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Depends on the missing value itself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8EA8"/>
                </a:solidFill>
                <a:latin typeface="Calibri"/>
              </a:rPr>
              <a:t>e.g.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High-debt applicants skip the income field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Fix: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Add a was_missing flag; investigate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Four Ways Information Leaks Into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Leakage gives optimistic validation scores and poor production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97480" cy="3977639"/>
          </a:xfrm>
          <a:prstGeom prst="roundRect">
            <a:avLst>
              <a:gd name="adj" fmla="val 406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2331720" cy="54864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5350"/>
                </a:solidFill>
                <a:latin typeface="Calibri"/>
              </a:rPr>
              <a:t>Target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feature is created after, or because of, the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LOAN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days_to_default, post_approval_status_flag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43400"/>
            <a:ext cx="2478024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434340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4CAF50"/>
                </a:solidFill>
                <a:latin typeface="Calibri"/>
              </a:rPr>
              <a:t>FIX  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Keep only features known at decision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1417320"/>
            <a:ext cx="2697480" cy="3977639"/>
          </a:xfrm>
          <a:prstGeom prst="roundRect">
            <a:avLst>
              <a:gd name="adj" fmla="val 406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502152" y="1600200"/>
            <a:ext cx="2331720" cy="54864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02152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9800"/>
                </a:solidFill>
                <a:latin typeface="Calibri"/>
              </a:rPr>
              <a:t>Train-test contamination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194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Preprocessing is fitted on all rows before the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LOAN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40156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Scaler or imputer fitted on the full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343400"/>
            <a:ext cx="2478024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20440" y="434340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4CAF50"/>
                </a:solidFill>
                <a:latin typeface="Calibri"/>
              </a:rPr>
              <a:t>FIX  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Split first; fit inside a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417320"/>
            <a:ext cx="2697480" cy="3977639"/>
          </a:xfrm>
          <a:prstGeom prst="roundRect">
            <a:avLst>
              <a:gd name="adj" fmla="val 406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364224" y="1600200"/>
            <a:ext cx="2331720" cy="548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64224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FC3F7"/>
                </a:solidFill>
                <a:latin typeface="Calibri"/>
              </a:rPr>
              <a:t>Temporal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194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random split lets the model learn from the future.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LOAN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40156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2025 loans train a model tested on 2023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4343400"/>
            <a:ext cx="2478024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82512" y="434340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4CAF50"/>
                </a:solidFill>
                <a:latin typeface="Calibri"/>
              </a:rPr>
              <a:t>FIX  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Time-ordered split or TimeSeriesSplit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3416" y="1417320"/>
            <a:ext cx="2697480" cy="3977639"/>
          </a:xfrm>
          <a:prstGeom prst="roundRect">
            <a:avLst>
              <a:gd name="adj" fmla="val 406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226296" y="1600200"/>
            <a:ext cx="2331720" cy="54864"/>
          </a:xfrm>
          <a:prstGeom prst="rect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26296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986CB"/>
                </a:solidFill>
                <a:latin typeface="Calibri"/>
              </a:rPr>
              <a:t>Group leakage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6296" y="2194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same entity appears in both train and test.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LOAN EXAMPLE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340156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A repeat customer in both sets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53144" y="4343400"/>
            <a:ext cx="2478024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244584" y="434340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4CAF50"/>
                </a:solidFill>
                <a:latin typeface="Calibri"/>
              </a:rPr>
              <a:t>FIX  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GroupKFold or split by customer_id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577840"/>
            <a:ext cx="11274552" cy="640080"/>
          </a:xfrm>
          <a:prstGeom prst="roundRect">
            <a:avLst>
              <a:gd name="adj" fmla="val 11428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5800" y="55778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scikit-learn guidance: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split the data before any preprocessing, and keep every fitted step inside a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Hands-On: Find Every Leakage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15 minutes  ·  day1/02_data_quality_leakage/notebook.ipynb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583680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THE 12 CANDIDATE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customer_id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9659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0" y="1965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loan_amount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32888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5328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annual_income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532888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931920" y="25328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employment_years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99815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099815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credit_score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3099815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931920" y="3099815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days_since_last_payment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66744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366674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existing_loans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3666744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931920" y="366674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loan_type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3367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423367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region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423367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931920" y="423367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loan_approval_date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006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8680" y="4800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days_to_default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48006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931920" y="4800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post_approval_status_flag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406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Target: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defaulted_in_next_30_days  ·  1,200 loans  ·  0.7% default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1417320"/>
            <a:ext cx="4416552" cy="4800600"/>
          </a:xfrm>
          <a:prstGeom prst="roundRect">
            <a:avLst>
              <a:gd name="adj" fmla="val 2484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7589520" y="16459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89520" y="164592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9800"/>
                </a:solidFill>
                <a:latin typeface="Calibri"/>
              </a:rPr>
              <a:t>YOUR TASK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10312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For every column ask: would I know this value at the moment the loan is approved?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246120"/>
            <a:ext cx="960120" cy="384048"/>
          </a:xfrm>
          <a:prstGeom prst="roundRect">
            <a:avLst>
              <a:gd name="adj" fmla="val 19047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89520" y="3246120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4CAF50"/>
                </a:solidFill>
                <a:latin typeface="Calibri"/>
              </a:rPr>
              <a:t>SAFE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246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Known at decision 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3904487"/>
            <a:ext cx="960120" cy="384048"/>
          </a:xfrm>
          <a:prstGeom prst="roundRect">
            <a:avLst>
              <a:gd name="adj" fmla="val 19047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589520" y="3904487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9800"/>
                </a:solidFill>
                <a:latin typeface="Calibri"/>
              </a:rPr>
              <a:t>RISKY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904487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Usable only with care (split or as-of date)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4562856"/>
            <a:ext cx="960120" cy="384048"/>
          </a:xfrm>
          <a:prstGeom prst="roundRect">
            <a:avLst>
              <a:gd name="adj" fmla="val 19047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562856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EF5350"/>
                </a:solidFill>
                <a:latin typeface="Calibri"/>
              </a:rPr>
              <a:t>LEAK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56285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Only exists after the outcome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25780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Then run the leaky and clean models in the notebook and compare their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Answer Key: Every Leakage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Reveal after pairs have compared their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4552" cy="1170432"/>
          </a:xfrm>
          <a:prstGeom prst="roundRect">
            <a:avLst>
              <a:gd name="adj" fmla="val 937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1097280" cy="402336"/>
          </a:xfrm>
          <a:prstGeom prst="roundRect">
            <a:avLst>
              <a:gd name="adj" fmla="val 18181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LEAK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1463040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94560" y="1463040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F5350"/>
                </a:solidFill>
                <a:latin typeface="Consolas"/>
              </a:rPr>
              <a:t>days_to_default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exists once a default happens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1956816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194560" y="1956816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F5350"/>
                </a:solidFill>
                <a:latin typeface="Consolas"/>
              </a:rPr>
              <a:t>post_approval_status_flag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56816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Recorded after approval, encodes the outcome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0048"/>
            <a:ext cx="11274552" cy="2157984"/>
          </a:xfrm>
          <a:prstGeom prst="roundRect">
            <a:avLst>
              <a:gd name="adj" fmla="val 5084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85800" y="3547871"/>
            <a:ext cx="1097280" cy="402336"/>
          </a:xfrm>
          <a:prstGeom prst="roundRect">
            <a:avLst>
              <a:gd name="adj" fmla="val 18181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3547871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RISKY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2761488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94560" y="2761488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9800"/>
                </a:solidFill>
                <a:latin typeface="Consolas"/>
              </a:rPr>
              <a:t>loan_approval_date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6148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 a feature; use it to order the split by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255264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194560" y="3255264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9800"/>
                </a:solidFill>
                <a:latin typeface="Consolas"/>
              </a:rPr>
              <a:t>customer_id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55264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 a feature; use it to group repeat 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3749039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194560" y="3749039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9800"/>
                </a:solidFill>
                <a:latin typeface="Consolas"/>
              </a:rPr>
              <a:t>days_since_last_payment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749039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Safe only if measured as-of the application 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7400" y="4242816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194560" y="4242816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9800"/>
                </a:solidFill>
                <a:latin typeface="Consolas"/>
              </a:rPr>
              <a:t>annual_income · credit_score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242816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Have gaps; impute inside the Pipeline, not before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56048"/>
            <a:ext cx="11274552" cy="1170432"/>
          </a:xfrm>
          <a:prstGeom prst="roundRect">
            <a:avLst>
              <a:gd name="adj" fmla="val 937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85800" y="5340096"/>
            <a:ext cx="1097280" cy="402336"/>
          </a:xfrm>
          <a:prstGeom prst="roundRect">
            <a:avLst>
              <a:gd name="adj" fmla="val 18181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5800" y="5340096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SAFE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57400" y="5047488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194560" y="5047488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CAF50"/>
                </a:solidFill>
                <a:latin typeface="Consolas"/>
              </a:rPr>
              <a:t>loan_amount · employment_years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04748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Known when the application is submitted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7400" y="5541264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194560" y="5541264"/>
            <a:ext cx="3840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CAF50"/>
                </a:solidFill>
                <a:latin typeface="Consolas"/>
              </a:rPr>
              <a:t>existing_loans · loan_type · region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541264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Known when the application is submitted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Leakage-Free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Same data, same model: only the order of operations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74552" cy="2148840"/>
          </a:xfrm>
          <a:prstGeom prst="roundRect">
            <a:avLst>
              <a:gd name="adj" fmla="val 5106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1848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EF5350"/>
                </a:solidFill>
                <a:latin typeface="Calibri"/>
              </a:rPr>
              <a:t>WRONG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Full dataset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34056" y="2487168"/>
            <a:ext cx="310896" cy="0"/>
          </a:xfrm>
          <a:prstGeom prst="line">
            <a:avLst/>
          </a:prstGeom>
          <a:ln w="22225">
            <a:solidFill>
              <a:srgbClr val="EF53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81528" y="210312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154680" y="210312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Fit imputer &amp; scaler on all rows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84064" y="2487168"/>
            <a:ext cx="310895" cy="0"/>
          </a:xfrm>
          <a:prstGeom prst="line">
            <a:avLst/>
          </a:prstGeom>
          <a:ln w="22225">
            <a:solidFill>
              <a:srgbClr val="EF53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31536" y="210312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504688" y="210312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 split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34071" y="2487168"/>
            <a:ext cx="310897" cy="0"/>
          </a:xfrm>
          <a:prstGeom prst="line">
            <a:avLst/>
          </a:prstGeom>
          <a:ln w="22225">
            <a:solidFill>
              <a:srgbClr val="EF53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81544" y="210312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54696" y="210312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Train model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84080" y="2487168"/>
            <a:ext cx="310896" cy="0"/>
          </a:xfrm>
          <a:prstGeom prst="line">
            <a:avLst/>
          </a:prstGeom>
          <a:ln w="22225">
            <a:solidFill>
              <a:srgbClr val="EF53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31552" y="210312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204704" y="210312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0175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Test-set statistics and future loans shape training, so the score is optimistic and production disappoints.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94760"/>
            <a:ext cx="11274552" cy="2148840"/>
          </a:xfrm>
          <a:prstGeom prst="roundRect">
            <a:avLst>
              <a:gd name="adj" fmla="val 5106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31520" y="399592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399592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RIGHT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48056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4672" y="448056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Full dataset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34056" y="4864608"/>
            <a:ext cx="310896" cy="0"/>
          </a:xfrm>
          <a:prstGeom prst="line">
            <a:avLst/>
          </a:prstGeom>
          <a:ln w="22225">
            <a:solidFill>
              <a:srgbClr val="4CAF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081528" y="448056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154680" y="448056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Time-ordered split (oldest 80%)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84064" y="4864608"/>
            <a:ext cx="310895" cy="0"/>
          </a:xfrm>
          <a:prstGeom prst="line">
            <a:avLst/>
          </a:prstGeom>
          <a:ln w="22225">
            <a:solidFill>
              <a:srgbClr val="4CAF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31536" y="448056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504688" y="448056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Fit Pipeline on train only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34071" y="4864608"/>
            <a:ext cx="310897" cy="0"/>
          </a:xfrm>
          <a:prstGeom prst="line">
            <a:avLst/>
          </a:prstGeom>
          <a:ln w="22225">
            <a:solidFill>
              <a:srgbClr val="4CAF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781544" y="448056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854696" y="448056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Tune on validation folds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84080" y="4864608"/>
            <a:ext cx="310896" cy="0"/>
          </a:xfrm>
          <a:prstGeom prst="line">
            <a:avLst/>
          </a:prstGeom>
          <a:ln w="22225">
            <a:solidFill>
              <a:srgbClr val="4CAF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131552" y="4480560"/>
            <a:ext cx="196596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204704" y="4480560"/>
            <a:ext cx="18196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Evaluate once on newest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39496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The holdout looks like next month's applicants, so the score estimates real production performance.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Kapoor &amp; Narayanan (2023); scikit-learn developers, Common pitfalls and recommended practices.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Building the Pipeline in scikit-learn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Every learned statistic lives inside one object fitted on training rows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63640" y="14447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6583679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df = df.sort_values("loan_approval_date")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cut = int(len(df) * 0.8)              # oldest 80% = train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train, test = df.iloc[:cut], df.iloc[cut:]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num = ["loan_amount", "annual_income", "employment_years",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       "credit_score", "days_since_last_payment", "existing_loans"]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cat = ["loan_type", "region"]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num_pipe = Pipeline([("impute", SimpleImputer(strategy="median")),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                     ("scale", StandardScaler())])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cat_pipe = Pipeline([("impute", SimpleImputer(strategy="most_frequent")),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                     ("onehot", OneHotEncoder(handle_unknown="ignore"))])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pre = ColumnTransformer([("num", num_pipe, num), ("cat", cat_pipe, cat)])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model = Pipeline([("pre", pre),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                  ("clf", LogisticRegression(max_iter=1000))])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D6E2F5"/>
                </a:solidFill>
                <a:latin typeface="Consolas"/>
              </a:rPr>
              <a:t>model.fit(train[num + cat], train["defaulted_in_next_30_days"])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4050791" cy="1508760"/>
          </a:xfrm>
          <a:prstGeom prst="roundRect">
            <a:avLst>
              <a:gd name="adj" fmla="val 727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09560" y="1536192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CAF50"/>
                </a:solidFill>
                <a:latin typeface="Calibri"/>
              </a:rPr>
              <a:t>fit() learns from train only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Medians, scales and categories never see the test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035808"/>
            <a:ext cx="4050791" cy="1508760"/>
          </a:xfrm>
          <a:prstGeom prst="roundRect">
            <a:avLst>
              <a:gd name="adj" fmla="val 727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09560" y="3200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One object, every stage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same transforms run in validation, batch scoring and the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700016"/>
            <a:ext cx="4050791" cy="1508760"/>
          </a:xfrm>
          <a:prstGeom prst="roundRect">
            <a:avLst>
              <a:gd name="adj" fmla="val 727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09560" y="4864608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9800"/>
                </a:solidFill>
                <a:latin typeface="Calibri"/>
              </a:rPr>
              <a:t>One artefact to ship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joblib.dump(model) saves preprocessing and model together.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Pick a Validation Strategy That Fits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Train on blue, score on orange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4FC3F7"/>
                </a:solidFill>
                <a:latin typeface="Calibri"/>
              </a:rPr>
              <a:t>Stratified K-Fold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Independent rows; keeps the rare default rate in every fold.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99616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764792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029967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295144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560320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825496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090672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355848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621024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" y="35844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499616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764792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029967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295144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2560320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825496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090672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355848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621024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41513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1499616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764792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029967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295144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560320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825496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090672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355848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621024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47183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34440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1499616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1764792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2029967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2295144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2560320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2825496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3090672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3355848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3621024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594360" y="5394960"/>
            <a:ext cx="3364992" cy="685800"/>
          </a:xfrm>
          <a:prstGeom prst="roundRect">
            <a:avLst>
              <a:gd name="adj" fmla="val 1066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04088" y="539496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Use for: cross-sectional snapshots, rare classes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9392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507992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4CAF50"/>
                </a:solidFill>
                <a:latin typeface="Calibri"/>
              </a:rPr>
              <a:t>TimeSeriesSplit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07992" y="20574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Ordered data: always train on the past, test on the future.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62272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56631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5321807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5586983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5852159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117336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382512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6647688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6912863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7178040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7443215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462272" y="35844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56631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5321807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5586983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5852159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6117336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6382512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6647688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6912863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7178040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7443215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4462272" y="41513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3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56631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5321807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5586983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5852159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6117336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6382512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6647688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ounded Rectangle 88"/>
          <p:cNvSpPr/>
          <p:nvPr/>
        </p:nvSpPr>
        <p:spPr>
          <a:xfrm>
            <a:off x="6912863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7178040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7443215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4462272" y="47183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056631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5321807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5586983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ounded Rectangle 95"/>
          <p:cNvSpPr/>
          <p:nvPr/>
        </p:nvSpPr>
        <p:spPr>
          <a:xfrm>
            <a:off x="5852159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ounded Rectangle 96"/>
          <p:cNvSpPr/>
          <p:nvPr/>
        </p:nvSpPr>
        <p:spPr>
          <a:xfrm>
            <a:off x="6117336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6382512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ounded Rectangle 98"/>
          <p:cNvSpPr/>
          <p:nvPr/>
        </p:nvSpPr>
        <p:spPr>
          <a:xfrm>
            <a:off x="6647688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ounded Rectangle 99"/>
          <p:cNvSpPr/>
          <p:nvPr/>
        </p:nvSpPr>
        <p:spPr>
          <a:xfrm>
            <a:off x="6912863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ounded Rectangle 100"/>
          <p:cNvSpPr/>
          <p:nvPr/>
        </p:nvSpPr>
        <p:spPr>
          <a:xfrm>
            <a:off x="7178040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ounded Rectangle 101"/>
          <p:cNvSpPr/>
          <p:nvPr/>
        </p:nvSpPr>
        <p:spPr>
          <a:xfrm>
            <a:off x="7443215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ounded Rectangle 102"/>
          <p:cNvSpPr/>
          <p:nvPr/>
        </p:nvSpPr>
        <p:spPr>
          <a:xfrm>
            <a:off x="4416552" y="5394960"/>
            <a:ext cx="3364992" cy="685800"/>
          </a:xfrm>
          <a:prstGeom prst="roundRect">
            <a:avLst>
              <a:gd name="adj" fmla="val 1066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526279" y="539496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Use for: credit, fraud, demand, anything that predicts the future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01583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8330183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7986CB"/>
                </a:solidFill>
                <a:latin typeface="Calibri"/>
              </a:rPr>
              <a:t>GroupKFold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30183" y="20574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Repeat entities: all rows of one customer stay in one fold.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84463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1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878824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878824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A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143999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9143999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A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409176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9409176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674351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674351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B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939528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9939528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B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204703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0204703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C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469880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0469880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C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735055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10735055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C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1000232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1000232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1265407" y="3063239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11265407" y="2743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0AEC4"/>
                </a:solidFill>
                <a:latin typeface="Calibri"/>
              </a:rPr>
              <a:t>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84463" y="35844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2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878824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ounded Rectangle 130"/>
          <p:cNvSpPr/>
          <p:nvPr/>
        </p:nvSpPr>
        <p:spPr>
          <a:xfrm>
            <a:off x="9143999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ounded Rectangle 131"/>
          <p:cNvSpPr/>
          <p:nvPr/>
        </p:nvSpPr>
        <p:spPr>
          <a:xfrm>
            <a:off x="9409176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ounded Rectangle 132"/>
          <p:cNvSpPr/>
          <p:nvPr/>
        </p:nvSpPr>
        <p:spPr>
          <a:xfrm>
            <a:off x="9674351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ounded Rectangle 133"/>
          <p:cNvSpPr/>
          <p:nvPr/>
        </p:nvSpPr>
        <p:spPr>
          <a:xfrm>
            <a:off x="9939528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ounded Rectangle 134"/>
          <p:cNvSpPr/>
          <p:nvPr/>
        </p:nvSpPr>
        <p:spPr>
          <a:xfrm>
            <a:off x="10204703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ounded Rectangle 135"/>
          <p:cNvSpPr/>
          <p:nvPr/>
        </p:nvSpPr>
        <p:spPr>
          <a:xfrm>
            <a:off x="10469880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ounded Rectangle 136"/>
          <p:cNvSpPr/>
          <p:nvPr/>
        </p:nvSpPr>
        <p:spPr>
          <a:xfrm>
            <a:off x="10735055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ounded Rectangle 137"/>
          <p:cNvSpPr/>
          <p:nvPr/>
        </p:nvSpPr>
        <p:spPr>
          <a:xfrm>
            <a:off x="11000232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ounded Rectangle 138"/>
          <p:cNvSpPr/>
          <p:nvPr/>
        </p:nvSpPr>
        <p:spPr>
          <a:xfrm>
            <a:off x="11265407" y="3630168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8284463" y="41513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3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878824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ounded Rectangle 141"/>
          <p:cNvSpPr/>
          <p:nvPr/>
        </p:nvSpPr>
        <p:spPr>
          <a:xfrm>
            <a:off x="9143999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ounded Rectangle 142"/>
          <p:cNvSpPr/>
          <p:nvPr/>
        </p:nvSpPr>
        <p:spPr>
          <a:xfrm>
            <a:off x="9409176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ounded Rectangle 143"/>
          <p:cNvSpPr/>
          <p:nvPr/>
        </p:nvSpPr>
        <p:spPr>
          <a:xfrm>
            <a:off x="9674351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ounded Rectangle 144"/>
          <p:cNvSpPr/>
          <p:nvPr/>
        </p:nvSpPr>
        <p:spPr>
          <a:xfrm>
            <a:off x="9939528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ounded Rectangle 145"/>
          <p:cNvSpPr/>
          <p:nvPr/>
        </p:nvSpPr>
        <p:spPr>
          <a:xfrm>
            <a:off x="10204703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ounded Rectangle 146"/>
          <p:cNvSpPr/>
          <p:nvPr/>
        </p:nvSpPr>
        <p:spPr>
          <a:xfrm>
            <a:off x="10469880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ounded Rectangle 147"/>
          <p:cNvSpPr/>
          <p:nvPr/>
        </p:nvSpPr>
        <p:spPr>
          <a:xfrm>
            <a:off x="10735055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ounded Rectangle 148"/>
          <p:cNvSpPr/>
          <p:nvPr/>
        </p:nvSpPr>
        <p:spPr>
          <a:xfrm>
            <a:off x="11000232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ounded Rectangle 149"/>
          <p:cNvSpPr/>
          <p:nvPr/>
        </p:nvSpPr>
        <p:spPr>
          <a:xfrm>
            <a:off x="11265407" y="4197096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8284463" y="47183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Fold 4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878824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ounded Rectangle 152"/>
          <p:cNvSpPr/>
          <p:nvPr/>
        </p:nvSpPr>
        <p:spPr>
          <a:xfrm>
            <a:off x="9143999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ounded Rectangle 153"/>
          <p:cNvSpPr/>
          <p:nvPr/>
        </p:nvSpPr>
        <p:spPr>
          <a:xfrm>
            <a:off x="9409176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ounded Rectangle 154"/>
          <p:cNvSpPr/>
          <p:nvPr/>
        </p:nvSpPr>
        <p:spPr>
          <a:xfrm>
            <a:off x="9674351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ounded Rectangle 155"/>
          <p:cNvSpPr/>
          <p:nvPr/>
        </p:nvSpPr>
        <p:spPr>
          <a:xfrm>
            <a:off x="9939528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ounded Rectangle 156"/>
          <p:cNvSpPr/>
          <p:nvPr/>
        </p:nvSpPr>
        <p:spPr>
          <a:xfrm>
            <a:off x="10204703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ounded Rectangle 157"/>
          <p:cNvSpPr/>
          <p:nvPr/>
        </p:nvSpPr>
        <p:spPr>
          <a:xfrm>
            <a:off x="10469880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ounded Rectangle 158"/>
          <p:cNvSpPr/>
          <p:nvPr/>
        </p:nvSpPr>
        <p:spPr>
          <a:xfrm>
            <a:off x="10735055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ounded Rectangle 159"/>
          <p:cNvSpPr/>
          <p:nvPr/>
        </p:nvSpPr>
        <p:spPr>
          <a:xfrm>
            <a:off x="11000232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ounded Rectangle 160"/>
          <p:cNvSpPr/>
          <p:nvPr/>
        </p:nvSpPr>
        <p:spPr>
          <a:xfrm>
            <a:off x="11265407" y="4764024"/>
            <a:ext cx="219456" cy="274320"/>
          </a:xfrm>
          <a:prstGeom prst="roundRect">
            <a:avLst>
              <a:gd name="adj" fmla="val 16666"/>
            </a:avLst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ounded Rectangle 161"/>
          <p:cNvSpPr/>
          <p:nvPr/>
        </p:nvSpPr>
        <p:spPr>
          <a:xfrm>
            <a:off x="8238744" y="5394960"/>
            <a:ext cx="3364992" cy="685800"/>
          </a:xfrm>
          <a:prstGeom prst="roundRect">
            <a:avLst>
              <a:gd name="adj" fmla="val 1066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8348471" y="539496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Use for: customers with many loans, patients, devices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Checkpoint &amp;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Confirm everyone can move on before starting the next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1 · 0:15–1:10   | 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4206240" cy="4800600"/>
          </a:xfrm>
          <a:prstGeom prst="roundRect">
            <a:avLst>
              <a:gd name="adj" fmla="val 260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Your pipeline is scored on a time-ordered split with no leaked feature.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374903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Leaky columns removed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Split happens before any preprocessing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All preprocessing inside the Pipeline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Metric reported on the newest 20% of loans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417320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120640" y="16002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545336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is fitting a scaler on the full dataset a problem?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Test-set statistics leak into training, so the validation score is optimistic.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078479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120640" y="32613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06495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When should you prefer a time-based split?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Whenever the model predicts future events from past data: credit, fraud, demand.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739639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120640" y="492252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867655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Which loan column is pure target leakage?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days_to_default: it only exists after the borrower has defaulted.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9800"/>
                </a:solidFill>
                <a:latin typeface="Calibri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852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Production Training, Tuning &amp;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9800"/>
                </a:solidFill>
                <a:latin typeface="Calibri"/>
              </a:rPr>
              <a:t>55 minutes</a:t>
            </a:r>
            <a:r>
              <a:rPr sz="1600" b="0" i="0">
                <a:solidFill>
                  <a:srgbClr val="A0AEC4"/>
                </a:solidFill>
                <a:latin typeface="Calibri"/>
              </a:rPr>
              <a:t>   |   1:10 – 2:05   |   Outcomes (c) and (d)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694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IN THIS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659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406640" y="2130552"/>
            <a:ext cx="420624" cy="420624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03911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From notebook to modular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03911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15m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834639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06640" y="2999232"/>
            <a:ext cx="420624" cy="420624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907791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Hyperparameter optimisation with Optuna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2907791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20m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7033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406640" y="3867911"/>
            <a:ext cx="420624" cy="420624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77647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Experiment tracking with MLflow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77647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20m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From Notebook to Modular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day1/03_production_training/scripts: one responsibility per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72744"/>
          </a:solidFill>
          <a:ln w="15875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onsolas"/>
              </a:rPr>
              <a:t>config.yaml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data · model · paths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011680"/>
            <a:ext cx="960120" cy="0"/>
          </a:xfrm>
          <a:prstGeom prst="line">
            <a:avLst/>
          </a:prstGeom>
          <a:ln w="22225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46304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1E2F50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03320" y="146304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onsolas"/>
              </a:rPr>
              <a:t>main.py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Orchestrator: reads config, sets logging, runs each step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63240"/>
            <a:ext cx="269748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data_loader.py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Load CSV, validate target, split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801368" y="2578608"/>
            <a:ext cx="4279392" cy="466344"/>
          </a:xfrm>
          <a:prstGeom prst="line">
            <a:avLst/>
          </a:prstGeom>
          <a:ln w="1587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19272" y="3063240"/>
            <a:ext cx="269748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56432" y="306324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features.py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Impute and one-hot encode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63440" y="2578608"/>
            <a:ext cx="1417320" cy="466344"/>
          </a:xfrm>
          <a:prstGeom prst="line">
            <a:avLst/>
          </a:prstGeom>
          <a:ln w="1587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81344" y="3063240"/>
            <a:ext cx="269748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18504" y="306324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train.py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Build model from config; save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578608"/>
            <a:ext cx="1444752" cy="466344"/>
          </a:xfrm>
          <a:prstGeom prst="line">
            <a:avLst/>
          </a:prstGeom>
          <a:ln w="1587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43416" y="3063240"/>
            <a:ext cx="2697480" cy="1188720"/>
          </a:xfrm>
          <a:prstGeom prst="roundRect">
            <a:avLst>
              <a:gd name="adj" fmla="val 923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80576" y="306324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evaluate.py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Metrics to JSON report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578608"/>
            <a:ext cx="4306824" cy="466344"/>
          </a:xfrm>
          <a:prstGeom prst="line">
            <a:avLst/>
          </a:prstGeom>
          <a:ln w="1587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ARTIFACTS WRITTEN TO artifacts/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4CAF50"/>
                </a:solidFill>
                <a:latin typeface="Consolas"/>
              </a:rPr>
              <a:t>model.joblib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Fitted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926080" y="48463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4CAF50"/>
                </a:solidFill>
                <a:latin typeface="Consolas"/>
              </a:rPr>
              <a:t>metrics.json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Accuracy, precision, recall, F1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303520" y="48463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4CAF50"/>
                </a:solidFill>
                <a:latin typeface="Consolas"/>
              </a:rPr>
              <a:t>training.log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Timestamped INFO 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4480560"/>
            <a:ext cx="4005072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955279" y="461772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Each file is testable on its own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Changes are reviewable in Git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 scheduler can run it without Jupyter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Configuration, Seeds and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Run the same command twice and get the same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251960" y="14447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config.yaml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457200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data: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path: data/production_training_sample.csv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target_column: churn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test_size: 0.2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random_state: 42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model: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type: logistic_regression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random_state: 42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max_iter: 500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paths: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model_path: artifacts/model.joblib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report_path: artifacts/metrics.json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log_path: artifacts/training.log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371600"/>
            <a:ext cx="6062472" cy="1874519"/>
          </a:xfrm>
          <a:prstGeom prst="roundRect">
            <a:avLst>
              <a:gd name="adj" fmla="val 3902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88752" y="14447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36192"/>
            <a:ext cx="5696712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7FB77E"/>
                </a:solidFill>
                <a:latin typeface="Consolas"/>
              </a:rPr>
              <a:t># run from the repository root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FC3F7"/>
                </a:solidFill>
                <a:latin typeface="Consolas"/>
              </a:rPr>
              <a:t>$ python day1/03_production_training/scripts/main.py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--config day1/03_production_training/scripts/config.yaml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CAF50"/>
                </a:solidFill>
                <a:latin typeface="Consolas"/>
              </a:rPr>
              <a:t>→ ... | INFO | Starting training workflow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CAF50"/>
                </a:solidFill>
                <a:latin typeface="Consolas"/>
              </a:rPr>
              <a:t>→ ... | INFO | Training complete. Metrics: {...}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429000"/>
            <a:ext cx="2990088" cy="640080"/>
          </a:xfrm>
          <a:prstGeom prst="roundRect">
            <a:avLst>
              <a:gd name="adj" fmla="val 1142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06440" y="34290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Config, not code  </a:t>
            </a:r>
            <a:r>
              <a:rPr sz="1100" b="0" i="0">
                <a:solidFill>
                  <a:srgbClr val="A0AEC4"/>
                </a:solidFill>
                <a:latin typeface="Calibri"/>
              </a:rPr>
              <a:t>Change behaviour without editing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41664" y="3429000"/>
            <a:ext cx="2990088" cy="640080"/>
          </a:xfrm>
          <a:prstGeom prst="roundRect">
            <a:avLst>
              <a:gd name="adj" fmla="val 1142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78824" y="34290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Fixed seeds  </a:t>
            </a:r>
            <a:r>
              <a:rPr sz="1100" b="0" i="0">
                <a:solidFill>
                  <a:srgbClr val="A0AEC4"/>
                </a:solidFill>
                <a:latin typeface="Calibri"/>
              </a:rPr>
              <a:t>random_state: 42 everywhere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160520"/>
            <a:ext cx="2990088" cy="640080"/>
          </a:xfrm>
          <a:prstGeom prst="roundRect">
            <a:avLst>
              <a:gd name="adj" fmla="val 1142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06440" y="4160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Structured logs  </a:t>
            </a:r>
            <a:r>
              <a:rPr sz="1100" b="0" i="0">
                <a:solidFill>
                  <a:srgbClr val="A0AEC4"/>
                </a:solidFill>
                <a:latin typeface="Calibri"/>
              </a:rPr>
              <a:t>Timestamp | level | message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41664" y="4160520"/>
            <a:ext cx="2990088" cy="640080"/>
          </a:xfrm>
          <a:prstGeom prst="roundRect">
            <a:avLst>
              <a:gd name="adj" fmla="val 1142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78824" y="4160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Saved artefacts  </a:t>
            </a:r>
            <a:r>
              <a:rPr sz="1100" b="0" i="0">
                <a:solidFill>
                  <a:srgbClr val="A0AEC4"/>
                </a:solidFill>
                <a:latin typeface="Calibri"/>
              </a:rPr>
              <a:t>Model + metrics + log per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1274552" cy="1188720"/>
          </a:xfrm>
          <a:prstGeom prst="roundRect">
            <a:avLst>
              <a:gd name="adj" fmla="val 615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85800" y="521208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9800"/>
                </a:solidFill>
                <a:latin typeface="Calibri"/>
              </a:rPr>
              <a:t>HANDS-ON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074920"/>
            <a:ext cx="9326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Run main.py once, then change </a:t>
            </a:r>
            <a:r>
              <a:rPr sz="1400" b="0" i="0">
                <a:solidFill>
                  <a:srgbClr val="4FC3F7"/>
                </a:solidFill>
                <a:latin typeface="Consolas"/>
              </a:rPr>
              <a:t>test_size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or </a:t>
            </a:r>
            <a:r>
              <a:rPr sz="1400" b="0" i="0">
                <a:solidFill>
                  <a:srgbClr val="4FC3F7"/>
                </a:solidFill>
                <a:latin typeface="Consolas"/>
              </a:rPr>
              <a:t>max_iter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in config.yaml and run again. Compare the two metrics.json files. Same config, same seed: identical result.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Parameters vs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What the model learns versus what you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4FC3F7"/>
                </a:solidFill>
                <a:latin typeface="Calibri"/>
              </a:rPr>
              <a:t>Model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Learned from data during fit()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Logistic regression coefficients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Tree split thresholds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Neural network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1732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19672" y="1600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9800"/>
                </a:solidFill>
                <a:latin typeface="Calibri"/>
              </a:rPr>
              <a:t>Hyperparameters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Set by you before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5176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n_estimators, max_depth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learning_rate, C (regularisation)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min_samples_split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6949440" cy="1554480"/>
          </a:xfrm>
          <a:prstGeom prst="roundRect">
            <a:avLst>
              <a:gd name="adj" fmla="val 705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6492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Baking analogy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The oven temperature and time are hyperparameters; you set them. How the ingredients combine inside is learned. Set them badly and the cake burns: the model overfits.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663440"/>
            <a:ext cx="4050791" cy="1554480"/>
          </a:xfrm>
          <a:prstGeom prst="roundRect">
            <a:avLst>
              <a:gd name="adj" fmla="val 7058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09560" y="475488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F5350"/>
                </a:solidFill>
                <a:latin typeface="Calibri"/>
              </a:rPr>
              <a:t>Golden rule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Tune on validation folds. Never let the test set choose hyperparameters.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Grid, Random and Bayesian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25 trials each over max_depth (3–20) and n_estimators (50–300)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A0AEC4"/>
                </a:solidFill>
                <a:latin typeface="Calibri"/>
              </a:rPr>
              <a:t>Grid search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920240"/>
          <a:ext cx="3456432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61772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Tests every combination. Wastes trials on unimportant dimensions; cost explodes with more hyperparameters.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07992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4FC3F7"/>
                </a:solidFill>
                <a:latin typeface="Calibri"/>
              </a:rPr>
              <a:t>Random search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370831" y="1920240"/>
          <a:ext cx="3456432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07992" y="461772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25 distinct values per axis. Bergstra &amp; Bengio (2012): as good or better than grid for a fraction of the budget.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30183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9800"/>
                </a:solidFill>
                <a:latin typeface="Calibri"/>
              </a:rPr>
              <a:t>Bayesian (Optuna TPE)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8193023" y="1920240"/>
          <a:ext cx="3456432" cy="2651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330183" y="461772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Learns from past trials and concentrates new ones where scores are high.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Hands-On: Tuning With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10 minutes  ·  day1/04_hyperparameter_optim/notebook.ipynb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63640" y="14447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6583679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import optuna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from sklearn.ensemble import RandomForestClassifier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from sklearn.model_selection import cross_val_score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def objective(trial):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params =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    "n_estimators": trial.suggest_int("n_estimators", 50, 300),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    "max_depth": trial.suggest_int("max_depth", 3, 20),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    "min_samples_split": trial.suggest_int("min_samples_split", 2, 15),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clf = RandomForestClassifier(**params, random_state=42)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7FB77E"/>
                </a:solidFill>
                <a:latin typeface="Consolas"/>
              </a:rPr>
              <a:t>    # score on validation folds, never on the test set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return cross_val_score(clf, X_train, y_train,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                       cv=5, scoring="roc_auc").mean()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study = optuna.create_study(direction="maximize")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study.optimize(objective, n_trials=30)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print(study.best_params, round(study.best_value, 3))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4050791" cy="804672"/>
          </a:xfrm>
          <a:prstGeom prst="roundRect">
            <a:avLst>
              <a:gd name="adj" fmla="val 909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0" y="1371600"/>
            <a:ext cx="374903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Trial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One evaluation of one set of hyperparameters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286000"/>
            <a:ext cx="4050791" cy="804672"/>
          </a:xfrm>
          <a:prstGeom prst="roundRect">
            <a:avLst>
              <a:gd name="adj" fmla="val 909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0" y="2286000"/>
            <a:ext cx="374903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9800"/>
                </a:solidFill>
                <a:latin typeface="Calibri"/>
              </a:rPr>
              <a:t>Study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The whole optimisation: all trials plus the best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200400"/>
            <a:ext cx="4050791" cy="804672"/>
          </a:xfrm>
          <a:prstGeom prst="roundRect">
            <a:avLst>
              <a:gd name="adj" fmla="val 909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0" y="3200400"/>
            <a:ext cx="374903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4CAF50"/>
                </a:solidFill>
                <a:latin typeface="Calibri"/>
              </a:rPr>
              <a:t>Sampler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Chooses the next trial; TPE (Bayesian) by 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114800"/>
            <a:ext cx="4050791" cy="804672"/>
          </a:xfrm>
          <a:prstGeom prst="roundRect">
            <a:avLst>
              <a:gd name="adj" fmla="val 909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0" y="4114800"/>
            <a:ext cx="374903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7986CB"/>
                </a:solidFill>
                <a:latin typeface="Calibri"/>
              </a:rPr>
              <a:t>Pruner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Stops hopeless trials early to save compute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074920"/>
            <a:ext cx="4050791" cy="1143000"/>
          </a:xfrm>
          <a:prstGeom prst="roundRect">
            <a:avLst>
              <a:gd name="adj" fmla="val 64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0" y="5074920"/>
            <a:ext cx="3749039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Stretch: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plot_param_importances(study) shows which hyperparameter mattered most.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Experiment Tracking With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If it is not logged, it did not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PARAMS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max_depth=12, n_estimators=220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173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02152" y="150876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METRICS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test_auc, recall, 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173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64224" y="150876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ARTIFACTS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model, plots, metrics.json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4173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26296" y="150876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TAGS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git commit, data version,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88920"/>
            <a:ext cx="6949440" cy="3429000"/>
          </a:xfrm>
          <a:prstGeom prst="roundRect">
            <a:avLst>
              <a:gd name="adj" fmla="val 2133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63640" y="28620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53512"/>
            <a:ext cx="6583679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import mlflow, mlflow.sklearn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mlflow.set_experiment("Bootcamp_Optuna_Experiments")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with mlflow.start_run(run_name="Best_RF_Model"):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mlflow.log_params(study.best_params)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best = RandomForestClassifier(**study.best_params, random_state=42)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best.fit(X_train, y_train)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auc = roc_auc_score(y_test, best.predict_proba(X_test)[:, 1])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mlflow.log_metric("test_auc", auc)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mlflow.sklearn.log_model(best, "model")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788920"/>
            <a:ext cx="4050791" cy="3429000"/>
          </a:xfrm>
          <a:prstGeom prst="roundRect">
            <a:avLst>
              <a:gd name="adj" fmla="val 32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0956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Why track?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38328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Reproduce any past result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Compare runs side by side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Hand the exact model to deployment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Audit trail for model risk teams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Comparing Runs in the MLflow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From many experiments to one candidate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737360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78992" y="1600200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Launch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FC3F7"/>
                </a:solidFill>
                <a:latin typeface="Consolas"/>
              </a:rPr>
              <a:t>mlflow 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12848" y="2331720"/>
            <a:ext cx="137160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68296" y="1463040"/>
            <a:ext cx="1737360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2990088" y="1600200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21945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Open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FC3F7"/>
                </a:solidFill>
                <a:latin typeface="Consolas"/>
              </a:rPr>
              <a:t>127.0.0.1:5000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23944" y="2331720"/>
            <a:ext cx="137160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79392" y="1463040"/>
            <a:ext cx="1737360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901183" y="1600200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21945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Select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FC3F7"/>
                </a:solidFill>
                <a:latin typeface="Consolas"/>
              </a:rPr>
              <a:t>the experiment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2331720"/>
            <a:ext cx="137160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90488" y="1463040"/>
            <a:ext cx="1737360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812279" y="1600200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21945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Tick runs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FC3F7"/>
                </a:solidFill>
                <a:latin typeface="Consolas"/>
              </a:rPr>
              <a:t>then Compare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46136" y="2331720"/>
            <a:ext cx="137160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01583" y="1463040"/>
            <a:ext cx="1737360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723376" y="1600200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F1A2E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21945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Sort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FC3F7"/>
                </a:solidFill>
                <a:latin typeface="Consolas"/>
              </a:rPr>
              <a:t>by test_auc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57232" y="2331720"/>
            <a:ext cx="137160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12680" y="1463040"/>
            <a:ext cx="1737360" cy="1737360"/>
          </a:xfrm>
          <a:prstGeom prst="roundRect">
            <a:avLst>
              <a:gd name="adj" fmla="val 63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0634472" y="1600200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F1A2E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21945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Register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FC3F7"/>
                </a:solidFill>
                <a:latin typeface="Consolas"/>
              </a:rPr>
              <a:t>the best model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3520440"/>
          <a:ext cx="713232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40"/>
                <a:gridCol w="1188720"/>
                <a:gridCol w="1371600"/>
                <a:gridCol w="10972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4FC3F7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4FC3F7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4FC3F7"/>
                          </a:solidFill>
                          <a:latin typeface="Calibri"/>
                        </a:rPr>
                        <a:t>n_estimators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4FC3F7"/>
                          </a:solidFill>
                          <a:latin typeface="Calibri"/>
                        </a:rPr>
                        <a:t>test_auc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4FC3F7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rf_baseline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optuna_trial_17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0.812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CAF50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optuna_trial_22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0.806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F9800"/>
                          </a:solidFill>
                          <a:latin typeface="Calibri"/>
                        </a:rPr>
                        <a:t>Slower, no gain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57200" y="539496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Illustrative values: your numbers will differ.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520440"/>
            <a:ext cx="3867912" cy="2697480"/>
          </a:xfrm>
          <a:prstGeom prst="roundRect">
            <a:avLst>
              <a:gd name="adj" fmla="val 4067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092440" y="37033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92440" y="370332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CHECKPOINT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160520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main.py trains from the command line, and your best Optuna trial appears in the MLflow UI.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Checkpoint &amp;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Confirm everyone can move on before starting the next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2 · 1:10–2:05   |  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4206240" cy="4800600"/>
          </a:xfrm>
          <a:prstGeom prst="roundRect">
            <a:avLst>
              <a:gd name="adj" fmla="val 260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main.py trains from the CLI and the best Optuna trial is in MLflow.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374903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Ran main.py with --config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Changed config, reproduced a run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Optuna study finished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Best run logged with params, metric,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417320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120640" y="160020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545336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does random search often beat grid search?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Few hyperparameters really matter; random search tries more distinct values of 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078479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120640" y="326136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06495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must the test set never guide tuning?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It becomes part of training, so the final score is optimistic.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739639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120640" y="492252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867655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Name three things every MLflow run should log.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Parameters, metrics and artefacts (plus tags such as data version).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7986CB"/>
                </a:solidFill>
                <a:latin typeface="Calibri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852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Explainability &amp; Drift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986CB"/>
                </a:solidFill>
                <a:latin typeface="Calibri"/>
              </a:rPr>
              <a:t>55 minutes</a:t>
            </a:r>
            <a:r>
              <a:rPr sz="1600" b="0" i="0">
                <a:solidFill>
                  <a:srgbClr val="A0AEC4"/>
                </a:solidFill>
                <a:latin typeface="Calibri"/>
              </a:rPr>
              <a:t>   |   2:05 – 3:00   |   Outcomes (e) and (f)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694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IN THIS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659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406640" y="2130552"/>
            <a:ext cx="420624" cy="420624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03911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Explaining models with SHAP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03911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20m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834639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06640" y="2999232"/>
            <a:ext cx="420624" cy="420624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907791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From explanation to business narrative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2907791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10m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7033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406640" y="3867911"/>
            <a:ext cx="420624" cy="420624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77647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Detecting data drift: PSI and 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77647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15m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45720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06640" y="4736592"/>
            <a:ext cx="420624" cy="420624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64515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Anomaly detection &amp; alert thresholds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464515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10m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Explainability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"Your model denied my loan application. Why?"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766560" cy="621792"/>
          </a:xfrm>
          <a:prstGeom prst="roundRect">
            <a:avLst>
              <a:gd name="adj" fmla="val 11764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94360" y="1563624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563624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Calibri"/>
              </a:rPr>
              <a:t>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417320"/>
            <a:ext cx="5486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Regulatory compliance  </a:t>
            </a:r>
            <a:r>
              <a:rPr sz="1200" b="0" i="0">
                <a:solidFill>
                  <a:srgbClr val="A0AEC4"/>
                </a:solidFill>
                <a:latin typeface="Calibri"/>
              </a:rPr>
              <a:t>GDPR Art. 22, MAS FEAT and similar rules expect explanations for automated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30552"/>
            <a:ext cx="6766560" cy="621792"/>
          </a:xfrm>
          <a:prstGeom prst="roundRect">
            <a:avLst>
              <a:gd name="adj" fmla="val 11764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94360" y="2276856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27685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4CAF50"/>
                </a:solidFill>
                <a:latin typeface="Calibri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130552"/>
            <a:ext cx="5486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Stakeholder trust  </a:t>
            </a:r>
            <a:r>
              <a:rPr sz="1200" b="0" i="0">
                <a:solidFill>
                  <a:srgbClr val="A0AEC4"/>
                </a:solidFill>
                <a:latin typeface="Calibri"/>
              </a:rPr>
              <a:t>Underwriters will not adopt a model they cannot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43784"/>
            <a:ext cx="6766560" cy="621792"/>
          </a:xfrm>
          <a:prstGeom prst="roundRect">
            <a:avLst>
              <a:gd name="adj" fmla="val 11764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94360" y="299008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2990088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9800"/>
                </a:solidFill>
                <a:latin typeface="Calibri"/>
              </a:rPr>
              <a:t>DEBUG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843784"/>
            <a:ext cx="5486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 debugging  </a:t>
            </a:r>
            <a:r>
              <a:rPr sz="1200" b="0" i="0">
                <a:solidFill>
                  <a:srgbClr val="A0AEC4"/>
                </a:solidFill>
                <a:latin typeface="Calibri"/>
              </a:rPr>
              <a:t>Catch shortcuts, e.g. a vision model that learned to detect hospital rulers.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57015"/>
            <a:ext cx="6766560" cy="621792"/>
          </a:xfrm>
          <a:prstGeom prst="roundRect">
            <a:avLst>
              <a:gd name="adj" fmla="val 11764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94360" y="370332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3703320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BIAS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557015"/>
            <a:ext cx="5486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Fairness  </a:t>
            </a:r>
            <a:r>
              <a:rPr sz="1200" b="0" i="0">
                <a:solidFill>
                  <a:srgbClr val="A0AEC4"/>
                </a:solidFill>
                <a:latin typeface="Calibri"/>
              </a:rPr>
              <a:t>Detect proxies for protected attributes such as age or gender.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70248"/>
            <a:ext cx="6766560" cy="621792"/>
          </a:xfrm>
          <a:prstGeom prst="roundRect">
            <a:avLst>
              <a:gd name="adj" fmla="val 11764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94360" y="4416552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416552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7986CB"/>
                </a:solidFill>
                <a:latin typeface="Calibri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270248"/>
            <a:ext cx="54864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Auditability  </a:t>
            </a:r>
            <a:r>
              <a:rPr sz="1200" b="0" i="0">
                <a:solidFill>
                  <a:srgbClr val="A0AEC4"/>
                </a:solidFill>
                <a:latin typeface="Calibri"/>
              </a:rPr>
              <a:t>Keep a reproducible evidence trail for past decisions.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1417320"/>
            <a:ext cx="4233672" cy="3474720"/>
          </a:xfrm>
          <a:prstGeom prst="roundRect">
            <a:avLst>
              <a:gd name="adj" fmla="val 315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26679" y="1554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THE TRANSPARENCY SPECTRUM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1965960"/>
            <a:ext cx="3794760" cy="621792"/>
          </a:xfrm>
          <a:prstGeom prst="roundRect">
            <a:avLst>
              <a:gd name="adj" fmla="val 11764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63840" y="1965960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Linear / logistic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0AEC4"/>
                </a:solidFill>
                <a:latin typeface="Calibri"/>
              </a:rPr>
              <a:t>Glass box: read the weights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2679191"/>
            <a:ext cx="3794760" cy="621792"/>
          </a:xfrm>
          <a:prstGeom prst="roundRect">
            <a:avLst>
              <a:gd name="adj" fmla="val 11764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0" y="2679191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Decision trees / GAMs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0AEC4"/>
                </a:solidFill>
                <a:latin typeface="Calibri"/>
              </a:rPr>
              <a:t>Readable rules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3392424"/>
            <a:ext cx="3794760" cy="621792"/>
          </a:xfrm>
          <a:prstGeom prst="roundRect">
            <a:avLst>
              <a:gd name="adj" fmla="val 11764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63840" y="3392424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Random forest / XGBoost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0AEC4"/>
                </a:solidFill>
                <a:latin typeface="Calibri"/>
              </a:rPr>
              <a:t>Needs post-hoc SHAP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4105656"/>
            <a:ext cx="3794760" cy="621792"/>
          </a:xfrm>
          <a:prstGeom prst="roundRect">
            <a:avLst>
              <a:gd name="adj" fmla="val 11764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863840" y="4105656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Neural nets / LLMs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0AEC4"/>
                </a:solidFill>
                <a:latin typeface="Calibri"/>
              </a:rPr>
              <a:t>Black box: SHAP + LIME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7492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5074920"/>
            <a:ext cx="10881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Modern answer: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train the best-performing model, then explain it post-hoc with SHAP. You no longer have to trade accuracy for compliance.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SHAP: Fair Credit for Every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Shapley values from cooperative game theory (Lundberg &amp; Lee, 2017)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0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Features are players in a team; the prediction is the score. SHAP gives each feature its average marginal contribution across every possible team line-up.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4FC3F7"/>
                </a:solidFill>
                <a:latin typeface="Consolas"/>
              </a:rPr>
              <a:t>f(x) = E[f(X)] + Σ φᵢ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7986CB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Additivity: contributions sum exactly to the prediction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7986CB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Consistency: more influence never means a lower value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7986CB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Missingness: a feature with no effect gets exactly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513832" cy="4800600"/>
          </a:xfrm>
          <a:prstGeom prst="roundRect">
            <a:avLst>
              <a:gd name="adj" fmla="val 1523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88752" y="14904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81912"/>
            <a:ext cx="5148072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import shap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explainer = shap.TreeExplainer(model)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shap_values = explainer.shap_values(X_test)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7FB77E"/>
                </a:solidFill>
                <a:latin typeface="Consolas"/>
              </a:rPr>
              <a:t># Global: which features drive the portfolio?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shap.summary_plot(shap_values, X_test)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7FB77E"/>
                </a:solidFill>
                <a:latin typeface="Consolas"/>
              </a:rPr>
              <a:t># Local: why this one applicant?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shap.waterfall_plot(shap.Explanation(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    values=shap_values[0],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    base_values=explainer.expected_value,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D6E2F5"/>
                </a:solidFill>
                <a:latin typeface="Consolas"/>
              </a:rPr>
              <a:t>    data=X_test.iloc[0]))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Global and Local Explanations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Same model, two questions: what drives the portfolio, and why this applicant?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0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Calibri"/>
              </a:rPr>
              <a:t>GLOBAL · Beeswarm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5029200" cy="269748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13690"/>
            <a:ext cx="4846320" cy="23848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892040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years_employed, age and missed_payments drive portfolio risk. Red = high value; right = more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417320"/>
            <a:ext cx="5486400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473952" y="16002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73952" y="160020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LOCAL · Waterfall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2057400"/>
            <a:ext cx="5029200" cy="269748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hap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97228"/>
            <a:ext cx="4846320" cy="2417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2" y="4892040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Applicant #0: baseline 0.26 falls to −2.70 log-odds (≈6.3% default). Age and a clean record pull risk down: approve.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From Explanation to Business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Never hand raw SHAP numbers to a stakeholder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4552" cy="868680"/>
          </a:xfrm>
          <a:prstGeom prst="roundRect">
            <a:avLst>
              <a:gd name="adj" fmla="val 1263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THE 3-STEP FORMULA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Observed value</a:t>
            </a:r>
            <a:r>
              <a:rPr sz="1600" b="0" i="0">
                <a:solidFill>
                  <a:srgbClr val="4FC3F7"/>
                </a:solidFill>
                <a:latin typeface="Calibri"/>
              </a:rPr>
              <a:t>   → 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Direction and size of impact</a:t>
            </a:r>
            <a:r>
              <a:rPr sz="1600" b="0" i="0">
                <a:solidFill>
                  <a:srgbClr val="4FC3F7"/>
                </a:solidFill>
                <a:latin typeface="Calibri"/>
              </a:rPr>
              <a:t>   → 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Actionable next step (counterfactual)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6583680" cy="3794760"/>
          </a:xfrm>
          <a:prstGeom prst="roundRect">
            <a:avLst>
              <a:gd name="adj" fmla="val 289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9800"/>
                </a:solidFill>
                <a:latin typeface="Calibri"/>
              </a:rPr>
              <a:t>Worked example: adverse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6126480" cy="548640"/>
          </a:xfrm>
          <a:prstGeom prst="roundRect">
            <a:avLst>
              <a:gd name="adj" fmla="val 13333"/>
            </a:avLst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FC3F7"/>
                </a:solidFill>
                <a:latin typeface="Consolas"/>
              </a:rPr>
              <a:t>credit_utilization = 0.87   SHAP = +0.23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6126480" cy="1325880"/>
          </a:xfrm>
          <a:prstGeom prst="roundRect">
            <a:avLst>
              <a:gd name="adj" fmla="val 5517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58978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CAF50"/>
                </a:solidFill>
                <a:latin typeface="Calibri"/>
              </a:rPr>
              <a:t>"High card utilisation (87%) was the main reason for the decline: it raised this applicant's estimated default risk well above the approval threshold."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6636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5166360"/>
            <a:ext cx="5897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Counterfactual: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"Reducing utilisation below 30% would move this application to approval."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423160"/>
            <a:ext cx="4416552" cy="3794760"/>
          </a:xfrm>
          <a:prstGeom prst="roundRect">
            <a:avLst>
              <a:gd name="adj" fmla="val 289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543800" y="2606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43800" y="260604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7986CB"/>
                </a:solidFill>
                <a:latin typeface="Calibri"/>
              </a:rPr>
              <a:t>PAIR EXERCISE · 10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0632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Write 3 sentences for one applicant from your waterfall plot: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88620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main driver and its value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Its direction and size, in plain words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7986CB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One action that would change the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30352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Swap with a neighbour: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could a branch manager act on it with no ML background?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Three Kinds of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The world moves on after training; your model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4FC3F7"/>
                </a:solidFill>
                <a:latin typeface="Calibri"/>
              </a:rPr>
              <a:t>Feature drift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3182112" cy="502920"/>
          </a:xfrm>
          <a:prstGeom prst="roundRect">
            <a:avLst>
              <a:gd name="adj" fmla="val 14545"/>
            </a:avLst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4FC3F7"/>
                </a:solidFill>
                <a:latin typeface="Consolas"/>
              </a:rPr>
              <a:t>P(X)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inputs shift.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A new digital channel brings much younger applicants.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846320"/>
            <a:ext cx="3364992" cy="1188720"/>
          </a:xfrm>
          <a:prstGeom prst="roundRect">
            <a:avLst>
              <a:gd name="adj" fmla="val 615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DETECT WITH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PSI and KS on every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07992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9800"/>
                </a:solidFill>
                <a:latin typeface="Calibri"/>
              </a:rPr>
              <a:t>Concept 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2103120"/>
            <a:ext cx="3182112" cy="502920"/>
          </a:xfrm>
          <a:prstGeom prst="roundRect">
            <a:avLst>
              <a:gd name="adj" fmla="val 14545"/>
            </a:avLst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07992" y="2103120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9800"/>
                </a:solidFill>
                <a:latin typeface="Consolas"/>
              </a:rPr>
              <a:t>P(y | X)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rules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2004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After rate rises, the same debt-to-income ratio now means higher risk.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4846320"/>
            <a:ext cx="3364992" cy="1188720"/>
          </a:xfrm>
          <a:prstGeom prst="roundRect">
            <a:avLst>
              <a:gd name="adj" fmla="val 615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53712" y="48463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DETECT WITH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Performance on newly labelled loans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1417320"/>
            <a:ext cx="3639312" cy="4800600"/>
          </a:xfrm>
          <a:prstGeom prst="roundRect">
            <a:avLst>
              <a:gd name="adj" fmla="val 30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30183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F5350"/>
                </a:solidFill>
                <a:latin typeface="Calibri"/>
              </a:rPr>
              <a:t>Label drift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2103120"/>
            <a:ext cx="3182112" cy="502920"/>
          </a:xfrm>
          <a:prstGeom prst="roundRect">
            <a:avLst>
              <a:gd name="adj" fmla="val 14545"/>
            </a:avLst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30183" y="2103120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F5350"/>
                </a:solidFill>
                <a:latin typeface="Consolas"/>
              </a:rPr>
              <a:t>P(y)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3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outcome rate shifts.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32004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The default rate doubles from 3% to 6% in a downturn.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38744" y="4846320"/>
            <a:ext cx="3364992" cy="1188720"/>
          </a:xfrm>
          <a:prstGeom prst="roundRect">
            <a:avLst>
              <a:gd name="adj" fmla="val 615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75904" y="48463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DETECT WITH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Predicted vs actual default rate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Measuring Drift: PSI and the KS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Training data vs one simulated production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120640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POPULATION STABILITY INDEX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4663440" cy="685800"/>
          </a:xfrm>
          <a:prstGeom prst="roundRect">
            <a:avLst>
              <a:gd name="adj" fmla="val 10666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4FC3F7"/>
                </a:solidFill>
                <a:latin typeface="Consolas"/>
              </a:rPr>
              <a:t>PSI = Σ (Aᵢ − Eᵢ) · ln(Aᵢ / Eᵢ)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Eᵢ, Aᵢ = share of training and production rows in each of 10 training-quantile bins.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146304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3273552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STABLE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&lt; 0.10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8568" y="3246120"/>
            <a:ext cx="146304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58568" y="3273552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WATCH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0.10 – 0.20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31335" y="3246120"/>
            <a:ext cx="1463040" cy="777240"/>
          </a:xfrm>
          <a:prstGeom prst="roundRect">
            <a:avLst>
              <a:gd name="adj" fmla="val 9411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31335" y="3273552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ALERT</a:t>
            </a:r>
          </a:p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≥ 0.20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KOLMOGOROV-SMIRNOV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4663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FC3F7"/>
                </a:solidFill>
                <a:latin typeface="Consolas"/>
              </a:rPr>
              <a:t>D = max | F_train(x) − F_prod(x) |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p &lt; 0.05 means the distributions differ. With thousands of rows KS flags tiny shifts, so pair it with PSI for size.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417320"/>
            <a:ext cx="5879592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80760" y="1554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PSI BY FEATURE (SIMULATED MONTH)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989320" y="1874519"/>
          <a:ext cx="5623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Hands-On: Build Your PSI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day1/06_data_drift_anomaly/notebook.ipynb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92040" y="14447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212079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from scipy.stats import ks_2samp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rows = []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for col in numeric_features: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psi = calculate_psi(train[col], prod[col])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ks = ks_2samp(train[col], prod[col])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rows.append({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    "feature": col,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    "psi": round(psi, 3),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    "ks_p": ks.pvalue,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    "status": "ALERT" if psi &gt;= 0.2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              else "WATCH" if psi &gt;= 0.1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              else "STABLE",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   })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E2F5"/>
                </a:solidFill>
                <a:latin typeface="Consolas"/>
              </a:rPr>
              <a:t>drift = pd.DataFrame(rows).sort_values("psi", ascending=False)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371600"/>
          <a:ext cx="5422392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0552"/>
                <a:gridCol w="914400"/>
                <a:gridCol w="128016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KS p-value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credit_utilization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F5350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0.138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F9800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annual_income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0.058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CAF50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credit_score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CAF50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employment_years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0.241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CAF50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loan_amount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CAF50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09360" y="4754880"/>
            <a:ext cx="5422392" cy="1463040"/>
          </a:xfrm>
          <a:prstGeom prst="roundRect">
            <a:avLst>
              <a:gd name="adj" fmla="val 50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0" y="47548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Notice: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annual_income and credit_score fail the KS test (p &lt; 0.05) but their PSI is small. Statistically different is not the same as big enough to act 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Anomalies, Alert Thresholds and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Trainer demonstration: Isolation Forest, then agree a monitoring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120640" cy="4800600"/>
          </a:xfrm>
          <a:prstGeom prst="roundRect">
            <a:avLst>
              <a:gd name="adj" fmla="val 228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7986CB"/>
                </a:solidFill>
                <a:latin typeface="Calibri"/>
              </a:rPr>
              <a:t>TRAINER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Isolation Forest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Random splits isolate unusual rows in very few steps. No labels needed, so it works on live traffic from day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29000"/>
            <a:ext cx="4663440" cy="2606040"/>
          </a:xfrm>
          <a:prstGeom prst="roundRect">
            <a:avLst>
              <a:gd name="adj" fmla="val 2807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06240" y="35021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93592"/>
            <a:ext cx="4297679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from sklearn.ensemble import IsolationForest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iso = IsolationForest(contamination=0.05,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                  random_state=42)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iso.fit(X_train_numeric)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flags = iso.predict(X_new)   # -1 = anomaly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1417320"/>
          <a:ext cx="5879592" cy="3401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5880"/>
                <a:gridCol w="2377440"/>
                <a:gridCol w="217627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4FC3F7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4FC3F7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4FC3F7"/>
                          </a:solidFill>
                          <a:latin typeface="Calibri"/>
                        </a:rPr>
                        <a:t>Threshold / action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Every request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Schema and range validation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Reject with HTTP 422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Volume, missing rate, anomaly rate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Anomaly rate &gt; 2x baseline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PSI and KS per feature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F9800"/>
                          </a:solidFill>
                          <a:latin typeface="Calibri"/>
                        </a:rPr>
                        <a:t>Watch 0.1 · Alert 0.2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AUC and recall on labelled loans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EF5350"/>
                          </a:solidFill>
                          <a:latin typeface="Calibri"/>
                        </a:rPr>
                        <a:t>Below SLO: retrain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Quarterly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Model review with risk team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A0AEC4"/>
                          </a:solidFill>
                          <a:latin typeface="Calibri"/>
                        </a:rPr>
                        <a:t>Re-approve or retire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852160" y="5029200"/>
            <a:ext cx="5879592" cy="1188720"/>
          </a:xfrm>
          <a:prstGeom prst="roundRect">
            <a:avLst>
              <a:gd name="adj" fmla="val 615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35040" y="5029200"/>
            <a:ext cx="5577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Calibri"/>
              </a:rPr>
              <a:t>Alert only when a human must act.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Everything else goes on the dashboard, not into someone's inbox.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Checkpoint &amp;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Confirm everyone can move on before starting the next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3 · 2:05–3:00   |  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4206240" cy="4800600"/>
          </a:xfrm>
          <a:prstGeom prst="roundRect">
            <a:avLst>
              <a:gd name="adj" fmla="val 260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One plain-language explanation of a prediction, and a PSI table with drifted features flagged.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374903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SHAP summary and waterfall plots run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3-sentence explanation peer-reviewed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PSI computed for every numeric feature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☐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ALERT and WATCH features flagged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417320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120640" y="1600200"/>
            <a:ext cx="457200" cy="457200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545336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does SHAP additivity guarantee?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Feature contributions add up exactly to the prediction minus the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078479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120640" y="3261360"/>
            <a:ext cx="457200" cy="457200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06495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 feature has PSI = 0.27. What do you do?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Alert: investigate the cause and consider retraining.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739639"/>
            <a:ext cx="6793992" cy="1478279"/>
          </a:xfrm>
          <a:prstGeom prst="roundRect">
            <a:avLst>
              <a:gd name="adj" fmla="val 7422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120640" y="4922520"/>
            <a:ext cx="457200" cy="457200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F1A2E"/>
                </a:solidFill>
                <a:latin typeface="Calibr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867655"/>
            <a:ext cx="5806440" cy="129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Does Isolation Forest need labelled anomalies?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Answer: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No. It is unsupervised, so it works on live data immediately.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EF5350"/>
                </a:solidFill>
                <a:latin typeface="Calibri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852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Serving, Monitoring &amp;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5350"/>
                </a:solidFill>
                <a:latin typeface="Calibri"/>
              </a:rPr>
              <a:t>60 minutes</a:t>
            </a:r>
            <a:r>
              <a:rPr sz="1600" b="0" i="0">
                <a:solidFill>
                  <a:srgbClr val="A0AEC4"/>
                </a:solidFill>
                <a:latin typeface="Calibri"/>
              </a:rPr>
              <a:t>   |   3:00 – 4:00   |   Outcomes (g) and (h)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694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IN THIS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659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406640" y="2130552"/>
            <a:ext cx="420624" cy="420624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03911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Serving a model as a containerised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03911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20m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834639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06640" y="2999232"/>
            <a:ext cx="420624" cy="420624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907791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MLOps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2907791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15m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7033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406640" y="3867911"/>
            <a:ext cx="420624" cy="420624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77647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Moving to Azure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77647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15m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45720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06640" y="4736592"/>
            <a:ext cx="420624" cy="420624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645152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Action plan and wrap-up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4645152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10m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Serving a Model as an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The API is the waiter: clients never walk into the kitchen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103120" cy="2011680"/>
          </a:xfrm>
          <a:prstGeom prst="roundRect">
            <a:avLst>
              <a:gd name="adj" fmla="val 5454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10312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Web app, mobile app or curl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743200"/>
            <a:ext cx="822960" cy="0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14600" y="22402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Calibri"/>
              </a:rPr>
              <a:t>POST JSON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606040" y="3474720"/>
            <a:ext cx="822960" cy="0"/>
          </a:xfrm>
          <a:prstGeom prst="line">
            <a:avLst/>
          </a:prstGeom>
          <a:ln w="22225">
            <a:solidFill>
              <a:srgbClr val="4CAF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14600" y="35204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4CAF50"/>
                </a:solidFill>
                <a:latin typeface="Calibri"/>
              </a:rPr>
              <a:t>JSON reply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417320"/>
            <a:ext cx="8211312" cy="3383280"/>
          </a:xfrm>
          <a:prstGeom prst="roundRect">
            <a:avLst>
              <a:gd name="adj" fmla="val 4054"/>
            </a:avLst>
          </a:prstGeom>
          <a:noFill/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03320" y="1508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Calibri"/>
              </a:rPr>
              <a:t>DOCKER CONTAINER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965960"/>
            <a:ext cx="2377440" cy="2606040"/>
          </a:xfrm>
          <a:prstGeom prst="roundRect">
            <a:avLst>
              <a:gd name="adj" fmla="val 46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86200" y="2103120"/>
            <a:ext cx="2103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/health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/v1/predict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/docs (Swagger)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3246120"/>
            <a:ext cx="237744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1965960"/>
            <a:ext cx="2377440" cy="2606040"/>
          </a:xfrm>
          <a:prstGeom prst="roundRect">
            <a:avLst>
              <a:gd name="adj" fmla="val 46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2103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9800"/>
                </a:solidFill>
                <a:latin typeface="Calibri"/>
              </a:rPr>
              <a:t>Pydantic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Validates types and ranges; bad input → 422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6528" y="3246120"/>
            <a:ext cx="237744" cy="0"/>
          </a:xfrm>
          <a:prstGeom prst="line">
            <a:avLst/>
          </a:prstGeom>
          <a:ln w="22225">
            <a:solidFill>
              <a:srgbClr val="6B8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59" y="1965960"/>
            <a:ext cx="2377440" cy="2606040"/>
          </a:xfrm>
          <a:prstGeom prst="roundRect">
            <a:avLst>
              <a:gd name="adj" fmla="val 461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89719" y="2103120"/>
            <a:ext cx="2103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4CAF50"/>
                </a:solidFill>
                <a:latin typeface="Calibri"/>
              </a:rPr>
              <a:t>Model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0AEC4"/>
                </a:solidFill>
                <a:latin typeface="Calibri"/>
              </a:rPr>
              <a:t>Loaded once at startup, kept in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3639312" cy="1188720"/>
          </a:xfrm>
          <a:prstGeom prst="roundRect">
            <a:avLst>
              <a:gd name="adj" fmla="val 615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9800"/>
                </a:solidFill>
                <a:latin typeface="Calibri"/>
              </a:rPr>
              <a:t>Validate everything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 trust input from the internet.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5029200"/>
            <a:ext cx="3639312" cy="1188720"/>
          </a:xfrm>
          <a:prstGeom prst="roundRect">
            <a:avLst>
              <a:gd name="adj" fmla="val 615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62272" y="5029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4CAF50"/>
                </a:solidFill>
                <a:latin typeface="Calibri"/>
              </a:rPr>
              <a:t>Load once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Loading the model per request adds seconds of latency.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5029200"/>
            <a:ext cx="3639312" cy="1188720"/>
          </a:xfrm>
          <a:prstGeom prst="roundRect">
            <a:avLst>
              <a:gd name="adj" fmla="val 615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4463" y="5029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Health endpoint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Load balancers poll /health to route traffic.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FastAPI + Pydantic in 25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day1/07_api_serving_containers/app/main.py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7223760" cy="4846320"/>
          </a:xfrm>
          <a:prstGeom prst="roundRect">
            <a:avLst>
              <a:gd name="adj" fmla="val 1509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14447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6858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from fastapi import FastAPI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from pydantic import BaseModel, Field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class PredictRequest(BaseModel):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age: int = Field(..., ge=18, le=120)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income: float = Field(..., gt=0)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credit_score: int = Field(..., ge=300, le=850)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class PredictResponse(BaseModel):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prediction: str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probability: float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app = FastAPI(title="Bank Risk ML API")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@app.get("/health")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async def health_check():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return {"status": "healthy"}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@app.post("/v1/predict", response_model=PredictResponse)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async def predict(req: PredictRequest):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if req.income &gt; 60000 and req.credit_score &gt; 650:   # stand-in model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    return PredictResponse(prediction="No Default", probability=0.1)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return PredictResponse(prediction="Default", probability=0.85)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371600"/>
            <a:ext cx="3776472" cy="4846320"/>
          </a:xfrm>
          <a:prstGeom prst="roundRect">
            <a:avLst>
              <a:gd name="adj" fmla="val 290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83879" y="1554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What to point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11680"/>
            <a:ext cx="34290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Field(ge=18, le=120) rejects age 7 with HTTP 422, before the model runs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response_model fixes the output contract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/v1/ in the path lets v2 run side by side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F5350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Swagger UI appears at /docs for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7091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21040" y="4709160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9800"/>
                </a:solidFill>
                <a:latin typeface="Calibri"/>
              </a:rPr>
              <a:t>Production upgrade: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replace the stand-in rule with joblib.load() of your Module 1 Pipeline at startup.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Hands-On: Build, Run and Call the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Image = frozen blueprint  ·  Container = running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34840" y="14447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Dockerfile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475487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FROM python:3.11-slim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WORKDIR /app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7FB77E"/>
                </a:solidFill>
                <a:latin typeface="Consolas"/>
              </a:rPr>
              <a:t># copy requirements first so the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7FB77E"/>
                </a:solidFill>
                <a:latin typeface="Consolas"/>
              </a:rPr>
              <a:t># dependency layer is cached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COPY requirements.txt 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RUN pip install --no-cache-dir -r requirements.txt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COPY . /app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EXPOSE 8000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CMD ["uvicorn", "main:app",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 "--host", "0.0.0.0", "--port", "8000"]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371600"/>
            <a:ext cx="5879592" cy="3657600"/>
          </a:xfrm>
          <a:prstGeom prst="roundRect">
            <a:avLst>
              <a:gd name="adj" fmla="val 2000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88752" y="144475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EA8"/>
                </a:solidFill>
                <a:latin typeface="Calibri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536192"/>
            <a:ext cx="5513831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FC3F7"/>
                </a:solidFill>
                <a:latin typeface="Consolas"/>
              </a:rPr>
              <a:t>$ cd day1/07_api_serving_containers/app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FC3F7"/>
                </a:solidFill>
                <a:latin typeface="Consolas"/>
              </a:rPr>
              <a:t>$ docker build -t loan-api:1.0 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FC3F7"/>
                </a:solidFill>
                <a:latin typeface="Consolas"/>
              </a:rPr>
              <a:t>$ docker run -d -p 8000:8000 --name loan-api loan-api:1.0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FC3F7"/>
                </a:solidFill>
                <a:latin typeface="Consolas"/>
              </a:rPr>
              <a:t>$ curl -X POST http://localhost:8000/v1/predict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-H "Content-Type: application/json"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D6E2F5"/>
                </a:solidFill>
                <a:latin typeface="Consolas"/>
              </a:rPr>
              <a:t>    -d '{"age": 35, "income": 72000, "credit_score": 710}'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4CAF50"/>
                </a:solidFill>
                <a:latin typeface="Consolas"/>
              </a:rPr>
              <a:t>→ {"prediction":"No Default","probability":0.1}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578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85800" y="55778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557784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257800"/>
            <a:ext cx="92354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container returns a prediction to your curl request. </a:t>
            </a:r>
            <a:r>
              <a:rPr sz="1300" b="0" i="0">
                <a:solidFill>
                  <a:srgbClr val="A0AEC4"/>
                </a:solidFill>
                <a:latin typeface="Calibri"/>
              </a:rPr>
              <a:t>Windows PowerShell: use curl.exe and escape the inner quotes, or test from /docs.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Six-Panel MLOps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Four pillars on one screen: model, data, system and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39312" cy="2286000"/>
          </a:xfrm>
          <a:prstGeom prst="roundRect">
            <a:avLst>
              <a:gd name="adj" fmla="val 48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5156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4FC3F7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481328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AUC over time vs SLO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1828800"/>
          <a:ext cx="3456432" cy="1463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32735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Alert below 0.75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371600"/>
            <a:ext cx="3639312" cy="2286000"/>
          </a:xfrm>
          <a:prstGeom prst="roundRect">
            <a:avLst>
              <a:gd name="adj" fmla="val 48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462272" y="1508760"/>
            <a:ext cx="105156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62272" y="15087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4FC3F7"/>
                </a:solidFill>
                <a:latin typeface="Calibri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1481328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Predicted default rate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70831" y="1828800"/>
          <a:ext cx="3456432" cy="1463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462272" y="32735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Compare with actuals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371600"/>
            <a:ext cx="3639312" cy="2286000"/>
          </a:xfrm>
          <a:prstGeom prst="roundRect">
            <a:avLst>
              <a:gd name="adj" fmla="val 48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284463" y="1508760"/>
            <a:ext cx="105156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84463" y="15087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7986CB"/>
                </a:solidFill>
                <a:latin typeface="Calibri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3" y="1481328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Top-feature PSI this week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8193023" y="1828800"/>
          <a:ext cx="3456432" cy="14630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284463" y="32735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Alert at 0.2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22191"/>
            <a:ext cx="3639312" cy="2286000"/>
          </a:xfrm>
          <a:prstGeom prst="roundRect">
            <a:avLst>
              <a:gd name="adj" fmla="val 48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40080" y="3959352"/>
            <a:ext cx="105156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39593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4CAF50"/>
                </a:solidFill>
                <a:latin typeface="Calibri"/>
              </a:rPr>
              <a:t>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93192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p99 latency (ms)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548640" y="4279392"/>
          <a:ext cx="3456432" cy="14630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40080" y="572414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SLO 300 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9392" y="3822191"/>
            <a:ext cx="3639312" cy="2286000"/>
          </a:xfrm>
          <a:prstGeom prst="roundRect">
            <a:avLst>
              <a:gd name="adj" fmla="val 48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462272" y="3959352"/>
            <a:ext cx="105156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62272" y="39593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4CAF50"/>
                </a:solidFill>
                <a:latin typeface="Calibri"/>
              </a:rPr>
              <a:t>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393192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Requests &amp; error rate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370831" y="4279392"/>
          <a:ext cx="3456432" cy="14630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462272" y="572414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Errors &lt; 1%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3822191"/>
            <a:ext cx="3639312" cy="2286000"/>
          </a:xfrm>
          <a:prstGeom prst="roundRect">
            <a:avLst>
              <a:gd name="adj" fmla="val 48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284463" y="3959352"/>
            <a:ext cx="1051560" cy="274320"/>
          </a:xfrm>
          <a:prstGeom prst="roundRect">
            <a:avLst>
              <a:gd name="adj" fmla="val 26666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284463" y="39593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FF9800"/>
                </a:solidFill>
                <a:latin typeface="Calibri"/>
              </a:rPr>
              <a:t>BUSINESS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7463" y="3931920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Approved loans / expected loss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193023" y="4279392"/>
          <a:ext cx="3456432" cy="14630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284463" y="572414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Watch the trend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Golden Signals, SLOs and Alert Fatigue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Measure what matters; alert only on broken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4FC3F7"/>
                </a:solidFill>
                <a:latin typeface="Calibri"/>
              </a:rPr>
              <a:t>Latency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How fast? Track p99, not the average.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1732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02152" y="1554480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4CAF50"/>
                </a:solidFill>
                <a:latin typeface="Calibri"/>
              </a:rPr>
              <a:t>Traffic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How many requests per second?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1732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64224" y="1554480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F5350"/>
                </a:solidFill>
                <a:latin typeface="Calibri"/>
              </a:rPr>
              <a:t>Errors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What share of requests fail?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41732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26296" y="1554480"/>
            <a:ext cx="2377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9800"/>
                </a:solidFill>
                <a:latin typeface="Calibri"/>
              </a:rPr>
              <a:t>Saturation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How close to full is CPU or memory?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8EA8"/>
                </a:solidFill>
                <a:latin typeface="Calibri"/>
              </a:rPr>
              <a:t>GOOGLE SRE GOLDEN SIGNALS (ABOVE)  ·  EXAMPLE SLOs FOR THE LOAN MODEL (BELOW)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429000"/>
          <a:ext cx="694944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3520"/>
                <a:gridCol w="16459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Service level objective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AUC ≥ 0.75 on the monthly labelled sample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PSI &lt; 0.2 on the top-10 features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p99 latency &lt; 300 ms; error rate &lt; 1%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Expected loss within 10% of plan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A0AEC4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680960" y="3429000"/>
            <a:ext cx="4050791" cy="2788920"/>
          </a:xfrm>
          <a:prstGeom prst="roundRect">
            <a:avLst>
              <a:gd name="adj" fmla="val 3934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09560" y="3566160"/>
            <a:ext cx="3657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F5350"/>
                </a:solidFill>
                <a:latin typeface="Calibri"/>
              </a:rPr>
              <a:t>Alert fatigue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If every 0.1% dip sends an email, people stop reading them. Alert on SLO breaches only; everything else stays on the dashboard.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Moving the Same Workflow to Azure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Trainer demonstration: no Azure account needed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6766560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640"/>
                <a:gridCol w="39319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What you built today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4FC3F7"/>
                          </a:solidFill>
                          <a:latin typeface="Calibri"/>
                        </a:rPr>
                        <a:t>Azure Machine Learning equivalent</a:t>
                      </a:r>
                    </a:p>
                  </a:txBody>
                  <a:tcPr marL="91440" marR="91440" marT="36576" marB="36576" anchor="ctr">
                    <a:solidFill>
                      <a:srgbClr val="2A355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main.py + config.yaml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FC3F7"/>
                          </a:solidFill>
                          <a:latin typeface="Calibri"/>
                        </a:rPr>
                        <a:t>Command job on a compute cluster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Optuna study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FC3F7"/>
                          </a:solidFill>
                          <a:latin typeface="Calibri"/>
                        </a:rPr>
                        <a:t>Sweep job (Bayesian, early termination)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Local MLflow tracking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FC3F7"/>
                          </a:solidFill>
                          <a:latin typeface="Calibri"/>
                        </a:rPr>
                        <a:t>Built-in MLflow tracking in the workspace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model.joblib in artifacts/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FC3F7"/>
                          </a:solidFill>
                          <a:latin typeface="Calibri"/>
                        </a:rPr>
                        <a:t>Model registry (versioned, tagged)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FastAPI + Docker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FC3F7"/>
                          </a:solidFill>
                          <a:latin typeface="Calibri"/>
                        </a:rPr>
                        <a:t>Managed online endpoint</a:t>
                      </a:r>
                    </a:p>
                  </a:txBody>
                  <a:tcPr marL="91440" marR="91440" marT="36576" marB="36576" anchor="ctr">
                    <a:solidFill>
                      <a:srgbClr val="17274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PSI / KS notebook checks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FC3F7"/>
                          </a:solidFill>
                          <a:latin typeface="Calibri"/>
                        </a:rPr>
                        <a:t>Model monitoring (data drift signals)</a:t>
                      </a:r>
                    </a:p>
                  </a:txBody>
                  <a:tcPr marL="91440" marR="91440" marT="36576" marB="36576" anchor="ctr">
                    <a:solidFill>
                      <a:srgbClr val="1E2F5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349240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0B1424"/>
          </a:solidFill>
          <a:ln w="1587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513831"/>
            <a:ext cx="640080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job = command(code="./scripts", command="python train.py",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D6E2F5"/>
                </a:solidFill>
                <a:latin typeface="Consolas"/>
              </a:rPr>
              <a:t>    environment="azureml:credit-model-env:1", compute="cpu-cluster")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371600"/>
            <a:ext cx="4233672" cy="4846320"/>
          </a:xfrm>
          <a:prstGeom prst="roundRect">
            <a:avLst>
              <a:gd name="adj" fmla="val 259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726679" y="155448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26679" y="155448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EF5350"/>
                </a:solidFill>
                <a:latin typeface="Calibri"/>
              </a:rPr>
              <a:t>DEMO SCRIPT · 15 MIN</a:t>
            </a:r>
          </a:p>
        </p:txBody>
      </p:sp>
      <p:sp>
        <p:nvSpPr>
          <p:cNvPr id="13" name="Oval 12"/>
          <p:cNvSpPr/>
          <p:nvPr/>
        </p:nvSpPr>
        <p:spPr>
          <a:xfrm>
            <a:off x="7726679" y="2167128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Workspace tour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Studio, compute, data assets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3172968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6324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Submit a command job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Same training script, cloud compute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4178808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690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Watch metrics live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MLflow run in the Jobs view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5184648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07492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Register the model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A0AEC4"/>
                </a:solidFill>
                <a:latin typeface="Calibri"/>
              </a:rPr>
              <a:t>Version, tags, lineage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Your Back-to-Work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Five minutes, individually: commit to specific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949440" cy="777240"/>
          </a:xfrm>
          <a:prstGeom prst="roundRect">
            <a:avLst>
              <a:gd name="adj" fmla="val 941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21792" y="1572768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1732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One pipeline I will audit for leakage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60020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57200" y="2313432"/>
            <a:ext cx="6949440" cy="777240"/>
          </a:xfrm>
          <a:prstGeom prst="roundRect">
            <a:avLst>
              <a:gd name="adj" fmla="val 941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21792" y="246888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13432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One script I will refactor into config +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496312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57200" y="3209544"/>
            <a:ext cx="6949440" cy="777240"/>
          </a:xfrm>
          <a:prstGeom prst="roundRect">
            <a:avLst>
              <a:gd name="adj" fmla="val 941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21792" y="3364991"/>
            <a:ext cx="457200" cy="457200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09544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One prediction I will explain to a stakeholder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392424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57200" y="4105656"/>
            <a:ext cx="6949440" cy="777240"/>
          </a:xfrm>
          <a:prstGeom prst="roundRect">
            <a:avLst>
              <a:gd name="adj" fmla="val 941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21792" y="4261104"/>
            <a:ext cx="457200" cy="457200"/>
          </a:xfrm>
          <a:prstGeom prst="ellipse">
            <a:avLst/>
          </a:prstGeom>
          <a:solidFill>
            <a:srgbClr val="798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05656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One drift or alert check I will add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288536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57200" y="5001768"/>
            <a:ext cx="6949440" cy="777240"/>
          </a:xfrm>
          <a:prstGeom prst="roundRect">
            <a:avLst>
              <a:gd name="adj" fmla="val 9411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21792" y="5157216"/>
            <a:ext cx="457200" cy="457200"/>
          </a:xfrm>
          <a:prstGeom prst="ellipse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F1A2E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001768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My first step on Monday, and my deadline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5184648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7680960" y="1417320"/>
            <a:ext cx="4050791" cy="4800600"/>
          </a:xfrm>
          <a:prstGeom prst="roundRect">
            <a:avLst>
              <a:gd name="adj" fmla="val 2708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909560" y="1554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 30-60-90 day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21031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92440" y="2103120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4CAF50"/>
                </a:solidFill>
                <a:latin typeface="Calibri"/>
              </a:rPr>
              <a:t>30 days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Leakage audit + Pipeline on one live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34290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92440" y="3429000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9800"/>
                </a:solidFill>
                <a:latin typeface="Calibri"/>
              </a:rPr>
              <a:t>60 days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Scripts, Optuna and MLflow for that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4754879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92440" y="4754879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F5350"/>
                </a:solidFill>
                <a:latin typeface="Calibri"/>
              </a:rPr>
              <a:t>90 days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API, drift checks and a dashboard in place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64008" cy="822960"/>
          </a:xfrm>
          <a:prstGeom prst="rect">
            <a:avLst/>
          </a:prstGeom>
          <a:solidFill>
            <a:srgbClr val="54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0AEC4"/>
                </a:solidFill>
                <a:latin typeface="Calibri"/>
              </a:rPr>
              <a:t>One sentence per module to remember on 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MODULE 4 · 3:00–4:00   |  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97480" cy="3977639"/>
          </a:xfrm>
          <a:prstGeom prst="roundRect">
            <a:avLst>
              <a:gd name="adj" fmla="val 406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4CAF50"/>
                </a:solidFill>
                <a:latin typeface="Calibri"/>
              </a:rPr>
              <a:t>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Trustworthy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377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4CAF5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Pick the tool from the data shape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4CAF5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Split first; preprocess inside a Pipeline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4CAF5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Validate the way the model will be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417320"/>
            <a:ext cx="2697480" cy="3977639"/>
          </a:xfrm>
          <a:prstGeom prst="roundRect">
            <a:avLst>
              <a:gd name="adj" fmla="val 406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502152" y="16002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02152" y="160020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9800"/>
                </a:solidFill>
                <a:latin typeface="Calibri"/>
              </a:rPr>
              <a:t>MODULE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0116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Training, tuning,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697480"/>
            <a:ext cx="2377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Config + seeds = reproducible runs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Tune on validation folds with Optuna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980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If it is not in MLflow, it did not happen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417320"/>
            <a:ext cx="2697480" cy="3977639"/>
          </a:xfrm>
          <a:prstGeom prst="roundRect">
            <a:avLst>
              <a:gd name="adj" fmla="val 406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364224" y="16002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64224" y="160020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7986CB"/>
                </a:solidFill>
                <a:latin typeface="Calibri"/>
              </a:rPr>
              <a:t>MODULE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0116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Explain and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697480"/>
            <a:ext cx="2377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7986CB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SHAP for audits, plain words for people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7986CB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PSI ≥ 0.2 means investigate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7986CB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Alert only when a human must 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1417320"/>
            <a:ext cx="2697480" cy="3977639"/>
          </a:xfrm>
          <a:prstGeom prst="roundRect">
            <a:avLst>
              <a:gd name="adj" fmla="val 4067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226296" y="16002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26296" y="160020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MODULE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0116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Serve and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2697480"/>
            <a:ext cx="2377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EF535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Validate input; load the model once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EF535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Dashboards track 4 pillars against SLOs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EF5350"/>
                </a:solidFill>
                <a:latin typeface="Calibri"/>
              </a:rPr>
              <a:t>✓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The same workflow runs on Azure 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77840"/>
            <a:ext cx="11274552" cy="640080"/>
          </a:xfrm>
          <a:prstGeom prst="roundRect">
            <a:avLst>
              <a:gd name="adj" fmla="val 11428"/>
            </a:avLst>
          </a:prstGeom>
          <a:solidFill>
            <a:srgbClr val="1E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55778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FC3F7"/>
                </a:solidFill>
                <a:latin typeface="Calibri"/>
              </a:rPr>
              <a:t>Questions? 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Please complete the programme feedback form before you leave.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ADVANCED ML IN PRODUCTION  · 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6446520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8EA8"/>
                </a:solidFill>
                <a:latin typeface="Calibri"/>
              </a:rPr>
              <a:t>46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56048" y="2011680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2A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956048" y="201168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4CAF50"/>
                </a:solidFill>
                <a:latin typeface="Calibri"/>
              </a:rPr>
              <a:t>END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A0AEC4"/>
                </a:solidFill>
                <a:latin typeface="Calibri"/>
              </a:rPr>
              <a:t>From a leaky notebook to a monitored, containerised model in four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434340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1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55848" y="43434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Calibri"/>
              </a:rPr>
              <a:t>Next: Day 2  ·  Azure ML workspace, cloud training and the model registry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