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0" y="1965960"/>
            <a:ext cx="3044952" cy="475488"/>
          </a:xfrm>
          <a:prstGeom prst="rect">
            <a:avLst/>
          </a:prstGeom>
          <a:solidFill>
            <a:srgbClr val="2A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0" y="1993392"/>
            <a:ext cx="3044952" cy="42062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 i="0">
                <a:solidFill>
                  <a:srgbClr val="4FC3F7"/>
                </a:solidFill>
                <a:latin typeface="Calibri"/>
              </a:rPr>
              <a:t>SESSION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06040"/>
            <a:ext cx="10360152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Explainability AI (XAI)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64992"/>
            <a:ext cx="10360152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for Business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251960"/>
            <a:ext cx="9445752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0" i="0">
                <a:solidFill>
                  <a:srgbClr val="A0AEC4"/>
                </a:solidFill>
                <a:latin typeface="Calibri"/>
              </a:rPr>
              <a:t>Open the black box: SHAP &amp; LIME to explain model predictions in plain English.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4983480"/>
            <a:ext cx="5788152" cy="594360"/>
          </a:xfrm>
          <a:prstGeom prst="rect">
            <a:avLst/>
          </a:prstGeom>
          <a:solidFill>
            <a:srgbClr val="1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5010912"/>
            <a:ext cx="5788152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0" i="0">
                <a:solidFill>
                  <a:srgbClr val="4FC3F7"/>
                </a:solidFill>
                <a:latin typeface="Calibri"/>
              </a:rPr>
              <a:t>🗓 Day 1    🕐 4:00 PM – 5:00 PM    ⏱ 60 Minutes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64008" cy="594360"/>
          </a:xfrm>
          <a:prstGeom prst="rect">
            <a:avLst/>
          </a:prstGeom>
          <a:solidFill>
            <a:srgbClr val="54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Session Goals &amp;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5486400" cy="5120640"/>
          </a:xfrm>
          <a:prstGeom prst="rect">
            <a:avLst/>
          </a:prstGeom>
          <a:solidFill>
            <a:srgbClr val="1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463040"/>
            <a:ext cx="640080" cy="640080"/>
          </a:xfrm>
          <a:prstGeom prst="rect">
            <a:avLst/>
          </a:prstGeom>
          <a:solidFill>
            <a:srgbClr val="1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1444752"/>
            <a:ext cx="621792" cy="6583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Segoe UI Emoji"/>
              </a:rPr>
              <a:t>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40280"/>
            <a:ext cx="493776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Core Purpose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743200"/>
            <a:ext cx="493776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0">
                <a:solidFill>
                  <a:srgbClr val="A0AEC4"/>
                </a:solidFill>
                <a:latin typeface="Calibri"/>
              </a:rPr>
              <a:t>"Your model denied my loan application. Why?" If an organization cannot answer this question, the model cannot be deployed in production.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749039"/>
            <a:ext cx="4937760" cy="1005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0">
                <a:solidFill>
                  <a:srgbClr val="A0AEC4"/>
                </a:solidFill>
                <a:latin typeface="Calibri"/>
              </a:rPr>
              <a:t>Regulations like GDPR Article 22 guarantee individuals a 'right to explanation' for automated decisions. We use XAI to translate complex algorithms into trusted, defensible, and actionable business decisions.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937760"/>
            <a:ext cx="493776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4FC3F7"/>
                </a:solidFill>
                <a:latin typeface="Calibri"/>
              </a:rPr>
              <a:t>💡 Key Principle: High accuracy alone is no longer enough in enterprise ML.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234440"/>
            <a:ext cx="5486400" cy="5120640"/>
          </a:xfrm>
          <a:prstGeom prst="rect">
            <a:avLst/>
          </a:prstGeom>
          <a:solidFill>
            <a:srgbClr val="1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92240" y="1463040"/>
            <a:ext cx="640080" cy="640080"/>
          </a:xfrm>
          <a:prstGeom prst="rect">
            <a:avLst/>
          </a:prstGeom>
          <a:solidFill>
            <a:srgbClr val="1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1384" y="1444752"/>
            <a:ext cx="621792" cy="6583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Segoe UI Emoji"/>
              </a:rPr>
              <a:t>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240280"/>
            <a:ext cx="493776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Key Learning Outcomes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743200"/>
            <a:ext cx="49377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0">
                <a:solidFill>
                  <a:srgbClr val="A0AEC4"/>
                </a:solidFill>
                <a:latin typeface="Calibri"/>
              </a:rPr>
              <a:t>By the end of this 60-minute session, you will be able to: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200400"/>
            <a:ext cx="2743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50" b="1" i="0">
                <a:solidFill>
                  <a:srgbClr val="4FC3F7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3200400"/>
            <a:ext cx="47548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Understand the trade-off between model accuracy &amp; interpretability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657600"/>
            <a:ext cx="2743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50" b="1" i="0">
                <a:solidFill>
                  <a:srgbClr val="4FC3F7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3657600"/>
            <a:ext cx="47548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Generate SHAP global beeswarm &amp; bar plots to uncover macro drivers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114800"/>
            <a:ext cx="2743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50" b="1" i="0">
                <a:solidFill>
                  <a:srgbClr val="4FC3F7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4114800"/>
            <a:ext cx="47548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Generate SHAP local waterfall plots to explain individual predictions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572000"/>
            <a:ext cx="2743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50" b="1" i="0">
                <a:solidFill>
                  <a:srgbClr val="4FC3F7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4572000"/>
            <a:ext cx="47548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Apply LIME to generate accessible local surrogate rule explanations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5029200"/>
            <a:ext cx="2743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50" b="1" i="0">
                <a:solidFill>
                  <a:srgbClr val="4FC3F7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5029200"/>
            <a:ext cx="47548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Translate technical XAI metrics into plain-English counterfactuals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64008" cy="594360"/>
          </a:xfrm>
          <a:prstGeom prst="rect">
            <a:avLst/>
          </a:prstGeom>
          <a:solidFill>
            <a:srgbClr val="54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Why XAI Matters in Business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0972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0">
                <a:solidFill>
                  <a:srgbClr val="A0AEC4"/>
                </a:solidFill>
                <a:latin typeface="Calibri"/>
              </a:rPr>
              <a:t>Five critical drivers moving explainability from optional to mission-critical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74552" cy="896112"/>
          </a:xfrm>
          <a:prstGeom prst="rect">
            <a:avLst/>
          </a:prstGeom>
          <a:solidFill>
            <a:srgbClr val="1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73152" cy="896112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99032"/>
            <a:ext cx="4572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Segoe UI Emoji"/>
              </a:rPr>
              <a:t>⚖️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344168"/>
            <a:ext cx="29260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i="0">
                <a:solidFill>
                  <a:srgbClr val="EF5350"/>
                </a:solidFill>
                <a:latin typeface="Calibri"/>
              </a:rPr>
              <a:t>Regulatory Compliance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344168"/>
            <a:ext cx="740664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 i="0">
                <a:solidFill>
                  <a:srgbClr val="A0AEC4"/>
                </a:solidFill>
                <a:latin typeface="Calibri"/>
              </a:rPr>
              <a:t>GDPR Art. 22 (EU), FINRA, MAS FEAT, and OJK require explanations for automated decisions affecting individuals.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21992"/>
            <a:ext cx="11274552" cy="896112"/>
          </a:xfrm>
          <a:prstGeom prst="rect">
            <a:avLst/>
          </a:prstGeom>
          <a:solidFill>
            <a:srgbClr val="1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221992"/>
            <a:ext cx="73152" cy="89611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386584"/>
            <a:ext cx="4572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Segoe UI Emoji"/>
              </a:rPr>
              <a:t>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331720"/>
            <a:ext cx="29260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i="0">
                <a:solidFill>
                  <a:srgbClr val="4FC3F7"/>
                </a:solidFill>
                <a:latin typeface="Calibri"/>
              </a:rPr>
              <a:t>Stakeholder Trust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331720"/>
            <a:ext cx="740664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 i="0">
                <a:solidFill>
                  <a:srgbClr val="A0AEC4"/>
                </a:solidFill>
                <a:latin typeface="Calibri"/>
              </a:rPr>
              <a:t>'Why should I deploy a model I can't explain?' — Underwriters, clinicians, and risk officers need confidence before adoption.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09544"/>
            <a:ext cx="11274552" cy="896112"/>
          </a:xfrm>
          <a:prstGeom prst="rect">
            <a:avLst/>
          </a:prstGeom>
          <a:solidFill>
            <a:srgbClr val="1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209544"/>
            <a:ext cx="73152" cy="89611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374136"/>
            <a:ext cx="4572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Segoe UI Emoji"/>
              </a:rPr>
              <a:t>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319272"/>
            <a:ext cx="29260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i="0">
                <a:solidFill>
                  <a:srgbClr val="FF9800"/>
                </a:solidFill>
                <a:latin typeface="Calibri"/>
              </a:rPr>
              <a:t>Model Debugging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3319272"/>
            <a:ext cx="740664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 i="0">
                <a:solidFill>
                  <a:srgbClr val="A0AEC4"/>
                </a:solidFill>
                <a:latin typeface="Calibri"/>
              </a:rPr>
              <a:t>Uncover spurious correlations and shortcuts: medical imaging models once flagged tumors by detecting hospital rulers.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197096"/>
            <a:ext cx="11274552" cy="896112"/>
          </a:xfrm>
          <a:prstGeom prst="rect">
            <a:avLst/>
          </a:prstGeom>
          <a:solidFill>
            <a:srgbClr val="1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197096"/>
            <a:ext cx="73152" cy="896112"/>
          </a:xfrm>
          <a:prstGeom prst="rect">
            <a:avLst/>
          </a:prstGeom>
          <a:solidFill>
            <a:srgbClr val="79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361688"/>
            <a:ext cx="4572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Segoe UI Emoji"/>
              </a:rPr>
              <a:t>⚖️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306824"/>
            <a:ext cx="29260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i="0">
                <a:solidFill>
                  <a:srgbClr val="7986CB"/>
                </a:solidFill>
                <a:latin typeface="Calibri"/>
              </a:rPr>
              <a:t>Bias &amp; Fairness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4306824"/>
            <a:ext cx="740664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 i="0">
                <a:solidFill>
                  <a:srgbClr val="A0AEC4"/>
                </a:solidFill>
                <a:latin typeface="Calibri"/>
              </a:rPr>
              <a:t>Detect protected-attribute leakage (race, gender, age proxies) and prove algorithms are not unfairly discriminating.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184648"/>
            <a:ext cx="11274552" cy="896112"/>
          </a:xfrm>
          <a:prstGeom prst="rect">
            <a:avLst/>
          </a:prstGeom>
          <a:solidFill>
            <a:srgbClr val="1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5184648"/>
            <a:ext cx="73152" cy="89611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349240"/>
            <a:ext cx="4572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Segoe UI Emoji"/>
              </a:rPr>
              <a:t>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294376"/>
            <a:ext cx="29260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i="0">
                <a:solidFill>
                  <a:srgbClr val="4CAF50"/>
                </a:solidFill>
                <a:latin typeface="Calibri"/>
              </a:rPr>
              <a:t>Auditability &amp; Defense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5294376"/>
            <a:ext cx="740664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 i="0">
                <a:solidFill>
                  <a:srgbClr val="A0AEC4"/>
                </a:solidFill>
                <a:latin typeface="Calibri"/>
              </a:rPr>
              <a:t>Deliver reproducible evidence trails to regulators, internal risk committees, and dissatisfied clients.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64008" cy="594360"/>
          </a:xfrm>
          <a:prstGeom prst="rect">
            <a:avLst/>
          </a:prstGeom>
          <a:solidFill>
            <a:srgbClr val="54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The Transparency Spectrum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0972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0">
                <a:solidFill>
                  <a:srgbClr val="A0AEC4"/>
                </a:solidFill>
                <a:latin typeface="Calibri"/>
              </a:rPr>
              <a:t>Balancing interpretability with predictive power across the machine learning spectrum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74552" cy="2011680"/>
          </a:xfrm>
          <a:prstGeom prst="rect">
            <a:avLst/>
          </a:prstGeom>
          <a:solidFill>
            <a:srgbClr val="1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8813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 i="0">
                <a:solidFill>
                  <a:srgbClr val="A0AEC4"/>
                </a:solidFill>
                <a:latin typeface="Calibri"/>
              </a:rPr>
              <a:t>MODEL COMPLEXITY &amp; TRANSPARENCY AXIS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691640"/>
            <a:ext cx="2560320" cy="1371600"/>
          </a:xfrm>
          <a:prstGeom prst="rect">
            <a:avLst/>
          </a:prstGeom>
          <a:solidFill>
            <a:srgbClr val="1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691640"/>
            <a:ext cx="2560320" cy="5486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83080"/>
            <a:ext cx="23774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 i="0">
                <a:solidFill>
                  <a:srgbClr val="4CAF50"/>
                </a:solidFill>
                <a:latin typeface="Calibri"/>
              </a:rPr>
              <a:t>Linear / Logistic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03120"/>
            <a:ext cx="237744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Intrinsic Glass-Box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377440"/>
            <a:ext cx="237744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A0AEC4"/>
                </a:solidFill>
                <a:latin typeface="Calibri"/>
              </a:rPr>
              <a:t>Direct coefficients (w·x)
Instant human interpretation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1691640"/>
            <a:ext cx="2560320" cy="1371600"/>
          </a:xfrm>
          <a:prstGeom prst="rect">
            <a:avLst/>
          </a:prstGeom>
          <a:solidFill>
            <a:srgbClr val="1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1691640"/>
            <a:ext cx="2560320" cy="54864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1783080"/>
            <a:ext cx="23774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 i="0">
                <a:solidFill>
                  <a:srgbClr val="4FC3F7"/>
                </a:solidFill>
                <a:latin typeface="Calibri"/>
              </a:rPr>
              <a:t>Decision Trees / GAMs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103120"/>
            <a:ext cx="237744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Structured Rules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377440"/>
            <a:ext cx="237744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A0AEC4"/>
                </a:solidFill>
                <a:latin typeface="Calibri"/>
              </a:rPr>
              <a:t>Branching logic
Human-readable up to ~4 levels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1691640"/>
            <a:ext cx="2560320" cy="1371600"/>
          </a:xfrm>
          <a:prstGeom prst="rect">
            <a:avLst/>
          </a:prstGeom>
          <a:solidFill>
            <a:srgbClr val="1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80760" y="1691640"/>
            <a:ext cx="2560320" cy="54864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1783080"/>
            <a:ext cx="23774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 i="0">
                <a:solidFill>
                  <a:srgbClr val="FF9800"/>
                </a:solidFill>
                <a:latin typeface="Calibri"/>
              </a:rPr>
              <a:t>Random Forest / XGBoost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2103120"/>
            <a:ext cx="237744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Ensemble Methods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2377440"/>
            <a:ext cx="237744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A0AEC4"/>
                </a:solidFill>
                <a:latin typeface="Calibri"/>
              </a:rPr>
              <a:t>Averaged non-linear trees
Requires Post-Hoc XAI (SHAP)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78240" y="1691640"/>
            <a:ext cx="2560320" cy="1371600"/>
          </a:xfrm>
          <a:prstGeom prst="rect">
            <a:avLst/>
          </a:prstGeom>
          <a:solidFill>
            <a:srgbClr val="1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78240" y="1691640"/>
            <a:ext cx="2560320" cy="54864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0" y="1783080"/>
            <a:ext cx="23774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 i="0">
                <a:solidFill>
                  <a:srgbClr val="EF5350"/>
                </a:solidFill>
                <a:latin typeface="Calibri"/>
              </a:rPr>
              <a:t>Deep Networks / LLMs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2103120"/>
            <a:ext cx="237744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Black-Box Systems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2377440"/>
            <a:ext cx="237744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A0AEC4"/>
                </a:solidFill>
                <a:latin typeface="Calibri"/>
              </a:rPr>
              <a:t>Multi-layer embeddings
Requires SHAP / LIME surrogates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429000"/>
            <a:ext cx="5486400" cy="2926080"/>
          </a:xfrm>
          <a:prstGeom prst="rect">
            <a:avLst/>
          </a:prstGeom>
          <a:solidFill>
            <a:srgbClr val="1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3566160"/>
            <a:ext cx="5029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 i="0">
                <a:solidFill>
                  <a:srgbClr val="FF9800"/>
                </a:solidFill>
                <a:latin typeface="Calibri"/>
              </a:rPr>
              <a:t>The Historical Dilemma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3977639"/>
            <a:ext cx="4937760" cy="2103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50" b="0" i="0">
                <a:solidFill>
                  <a:srgbClr val="A0AEC4"/>
                </a:solidFill>
                <a:latin typeface="Calibri"/>
              </a:rPr>
              <a:t>Previously, data science teams faced a strict trade-off:
• Deploy high-accuracy ensembles (XGBoost/NN) and risk regulatory rejection due to opacity.
• Deploy simple linear models to satisfy compliance, sacrificing 5–15% in predictive performance.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3429000"/>
            <a:ext cx="5486400" cy="2926080"/>
          </a:xfrm>
          <a:prstGeom prst="rect">
            <a:avLst/>
          </a:prstGeom>
          <a:solidFill>
            <a:srgbClr val="1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3566160"/>
            <a:ext cx="5029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 i="0">
                <a:solidFill>
                  <a:srgbClr val="4CAF50"/>
                </a:solidFill>
                <a:latin typeface="Calibri"/>
              </a:rPr>
              <a:t>The Modern Post-Hoc XAI Solution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3977639"/>
            <a:ext cx="4937760" cy="2103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50" b="0" i="0">
                <a:solidFill>
                  <a:srgbClr val="A0AEC4"/>
                </a:solidFill>
                <a:latin typeface="Calibri"/>
              </a:rPr>
              <a:t>Modern XAI tools break this trade-off completely:
• Train the highest-performing black-box model without compromises.
• Apply SHAP and LIME post-hoc to generate mathematically rigorous, explainable outputs.
• Satisfy risk, audit, and regulatory requirements while keeping top-tier accuracy.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64008" cy="594360"/>
          </a:xfrm>
          <a:prstGeom prst="rect">
            <a:avLst/>
          </a:prstGeom>
          <a:solidFill>
            <a:srgbClr val="54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SHAP — Theory &amp; Mathematical Guarantees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0972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0">
                <a:solidFill>
                  <a:srgbClr val="A0AEC4"/>
                </a:solidFill>
                <a:latin typeface="Calibri"/>
              </a:rPr>
              <a:t>SHapley Additive exPlanations: Grounded in cooperative game theory (Lloyd Shapley, Nobel Prize)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5486400" cy="5120640"/>
          </a:xfrm>
          <a:prstGeom prst="rect">
            <a:avLst/>
          </a:prstGeom>
          <a:solidFill>
            <a:srgbClr val="1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5029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 i="0">
                <a:solidFill>
                  <a:srgbClr val="4FC3F7"/>
                </a:solidFill>
                <a:latin typeface="Calibri"/>
              </a:rPr>
              <a:t>Core Game-Theoretic Intuition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49377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50" b="0" i="0">
                <a:solidFill>
                  <a:srgbClr val="A0AEC4"/>
                </a:solidFill>
                <a:latin typeface="Calibri"/>
              </a:rPr>
              <a:t>In cooperative game theory, players collaborate in a team to produce a score. Shapley values calculate the average marginal contribution of each player across all possible team coalitions.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97480"/>
            <a:ext cx="49377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Three Axiomatic Guarantees: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3063240"/>
            <a:ext cx="5029200" cy="960120"/>
          </a:xfrm>
          <a:prstGeom prst="rect">
            <a:avLst/>
          </a:prstGeom>
          <a:solidFill>
            <a:srgbClr val="1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3063240"/>
            <a:ext cx="54864" cy="9601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136392"/>
            <a:ext cx="47548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4CAF50"/>
                </a:solidFill>
                <a:latin typeface="Calibri"/>
              </a:rPr>
              <a:t>1. Local Accuracy (Additivity)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383280"/>
            <a:ext cx="475488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50" b="0" i="0">
                <a:solidFill>
                  <a:srgbClr val="A0AEC4"/>
                </a:solidFill>
                <a:latin typeface="Calibri"/>
              </a:rPr>
              <a:t>The sum of all feature SHAP values strictly equals the difference between model output and baseline: f(x) = E[f(x)] + Σ φᵢ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114800"/>
            <a:ext cx="5029200" cy="960120"/>
          </a:xfrm>
          <a:prstGeom prst="rect">
            <a:avLst/>
          </a:prstGeom>
          <a:solidFill>
            <a:srgbClr val="1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114800"/>
            <a:ext cx="54864" cy="96012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187952"/>
            <a:ext cx="47548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4FC3F7"/>
                </a:solidFill>
                <a:latin typeface="Calibri"/>
              </a:rPr>
              <a:t>2. Consistency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434840"/>
            <a:ext cx="475488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50" b="0" i="0">
                <a:solidFill>
                  <a:srgbClr val="A0AEC4"/>
                </a:solidFill>
                <a:latin typeface="Calibri"/>
              </a:rPr>
              <a:t>If a model changes such that a feature's marginal contribution increases or stays equal, its SHAP value will never decrease.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5166360"/>
            <a:ext cx="5029200" cy="960120"/>
          </a:xfrm>
          <a:prstGeom prst="rect">
            <a:avLst/>
          </a:prstGeom>
          <a:solidFill>
            <a:srgbClr val="1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5166360"/>
            <a:ext cx="54864" cy="9601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239512"/>
            <a:ext cx="47548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FF9800"/>
                </a:solidFill>
                <a:latin typeface="Calibri"/>
              </a:rPr>
              <a:t>3. Missingness / Dummy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486400"/>
            <a:ext cx="475488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50" b="0" i="0">
                <a:solidFill>
                  <a:srgbClr val="A0AEC4"/>
                </a:solidFill>
                <a:latin typeface="Calibri"/>
              </a:rPr>
              <a:t>A feature that has no impact on predictions across all possible feature subsets always receives a SHAP value of exactly 0.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1234440"/>
            <a:ext cx="5486400" cy="5120640"/>
          </a:xfrm>
          <a:prstGeom prst="rect">
            <a:avLst/>
          </a:prstGeom>
          <a:solidFill>
            <a:srgbClr val="1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371600"/>
            <a:ext cx="5029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 i="0">
                <a:solidFill>
                  <a:srgbClr val="4FC3F7"/>
                </a:solidFill>
                <a:latin typeface="Calibri"/>
              </a:rPr>
              <a:t>SHAP in Python (TreeExplainer)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1783080"/>
            <a:ext cx="5120640" cy="3474720"/>
          </a:xfrm>
          <a:prstGeom prst="rect">
            <a:avLst/>
          </a:prstGeom>
          <a:solidFill>
            <a:srgbClr val="11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1874519"/>
            <a:ext cx="493776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6B8EA8"/>
                </a:solidFill>
                <a:latin typeface="Consolas"/>
              </a:rPr>
              <a:t># Import and initialize optimized explainer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2103120"/>
            <a:ext cx="493776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4FC3F7"/>
                </a:solidFill>
                <a:latin typeface="Consolas"/>
              </a:rPr>
              <a:t>import shap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2331720"/>
            <a:ext cx="493776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4FC3F7"/>
                </a:solidFill>
                <a:latin typeface="Consolas"/>
              </a:rPr>
              <a:t>explainer = shap.TreeExplainer(model)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2560320"/>
            <a:ext cx="493776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4FC3F7"/>
                </a:solidFill>
                <a:latin typeface="Consolas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2788920"/>
            <a:ext cx="493776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6B8EA8"/>
                </a:solidFill>
                <a:latin typeface="Consolas"/>
              </a:rPr>
              <a:t># Compute SHAP values for evaluation dataset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3017520"/>
            <a:ext cx="493776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4FC3F7"/>
                </a:solidFill>
                <a:latin typeface="Consolas"/>
              </a:rPr>
              <a:t>shap_values = explainer.shap_values(X_test)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3246120"/>
            <a:ext cx="493776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4FC3F7"/>
                </a:solidFill>
                <a:latin typeface="Consolas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3474720"/>
            <a:ext cx="493776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6B8EA8"/>
                </a:solidFill>
                <a:latin typeface="Consolas"/>
              </a:rPr>
              <a:t># 1. Global summary across all instances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3703320"/>
            <a:ext cx="493776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4FC3F7"/>
                </a:solidFill>
                <a:latin typeface="Consolas"/>
              </a:rPr>
              <a:t>shap.summary_plot(shap_values, X_test)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3931920"/>
            <a:ext cx="493776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4FC3F7"/>
                </a:solidFill>
                <a:latin typeface="Consolas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4160520"/>
            <a:ext cx="493776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6B8EA8"/>
                </a:solidFill>
                <a:latin typeface="Consolas"/>
              </a:rPr>
              <a:t># 2. Local waterfall explanation for applicant #0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4389120"/>
            <a:ext cx="493776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4FC3F7"/>
                </a:solidFill>
                <a:latin typeface="Consolas"/>
              </a:rPr>
              <a:t>shap.waterfall_plot(shap.Explanation(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4617720"/>
            <a:ext cx="493776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4FC3F7"/>
                </a:solidFill>
                <a:latin typeface="Consolas"/>
              </a:rPr>
              <a:t>    values=shap_values[0],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4846320"/>
            <a:ext cx="493776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4FC3F7"/>
                </a:solidFill>
                <a:latin typeface="Consolas"/>
              </a:rPr>
              <a:t>    base_values=explainer.expected_value,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5074920"/>
            <a:ext cx="493776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4FC3F7"/>
                </a:solidFill>
                <a:latin typeface="Consolas"/>
              </a:rPr>
              <a:t>    data=X_test.iloc[0]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5303520"/>
            <a:ext cx="493776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4FC3F7"/>
                </a:solidFill>
                <a:latin typeface="Consolas"/>
              </a:rPr>
              <a:t>))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5394960"/>
            <a:ext cx="50292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4CAF50"/>
                </a:solidFill>
                <a:latin typeface="Calibri"/>
              </a:rPr>
              <a:t>⚡ TreeExplainer runs in polynomial time O(TLD²) vs exponential kernel sampling.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64008" cy="594360"/>
          </a:xfrm>
          <a:prstGeom prst="rect">
            <a:avLst/>
          </a:prstGeom>
          <a:solidFill>
            <a:srgbClr val="54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Global Explainability: SHAP Beeswarm Plot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0972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0">
                <a:solidFill>
                  <a:srgbClr val="A0AEC4"/>
                </a:solidFill>
                <a:latin typeface="Calibri"/>
              </a:rPr>
              <a:t>Understanding macro model behavior across the entire customer population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5029200" cy="5120640"/>
          </a:xfrm>
          <a:prstGeom prst="rect">
            <a:avLst/>
          </a:prstGeom>
          <a:solidFill>
            <a:srgbClr val="1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4572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 i="0">
                <a:solidFill>
                  <a:srgbClr val="4FC3F7"/>
                </a:solidFill>
                <a:latin typeface="Calibri"/>
              </a:rPr>
              <a:t>Macro Insights: Credit Risk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4572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 i="0">
                <a:solidFill>
                  <a:srgbClr val="A0AEC4"/>
                </a:solidFill>
                <a:latin typeface="Calibri"/>
              </a:rPr>
              <a:t>Trained on loan applicant default data in Topic 5 notebook: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084831"/>
            <a:ext cx="4572000" cy="868680"/>
          </a:xfrm>
          <a:prstGeom prst="rect">
            <a:avLst/>
          </a:prstGeom>
          <a:solidFill>
            <a:srgbClr val="1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39695"/>
            <a:ext cx="438912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4CAF50"/>
                </a:solidFill>
                <a:latin typeface="Calibri"/>
              </a:rPr>
              <a:t>1. years_employed (Top Driver)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95727"/>
            <a:ext cx="43891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50" b="0" i="0">
                <a:solidFill>
                  <a:srgbClr val="A0AEC4"/>
                </a:solidFill>
                <a:latin typeface="Calibri"/>
              </a:rPr>
              <a:t>High job tenure (Red dots) concentrates heavily on negative SHAP values (lowers default probability).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044952"/>
            <a:ext cx="4572000" cy="868680"/>
          </a:xfrm>
          <a:prstGeom prst="rect">
            <a:avLst/>
          </a:prstGeom>
          <a:solidFill>
            <a:srgbClr val="1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099816"/>
            <a:ext cx="438912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4FC3F7"/>
                </a:solidFill>
                <a:latin typeface="Calibri"/>
              </a:rPr>
              <a:t>2. age (Strong Protection)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355848"/>
            <a:ext cx="43891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50" b="0" i="0">
                <a:solidFill>
                  <a:srgbClr val="A0AEC4"/>
                </a:solidFill>
                <a:latin typeface="Calibri"/>
              </a:rPr>
              <a:t>Older applicants (Red dots) consistently show negative SHAP values — mature age is a protective risk factor.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4005072"/>
            <a:ext cx="4572000" cy="868680"/>
          </a:xfrm>
          <a:prstGeom prst="rect">
            <a:avLst/>
          </a:prstGeom>
          <a:solidFill>
            <a:srgbClr val="1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059936"/>
            <a:ext cx="438912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EF5350"/>
                </a:solidFill>
                <a:latin typeface="Calibri"/>
              </a:rPr>
              <a:t>3. missed_payments (Sharp Danger)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15968"/>
            <a:ext cx="43891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50" b="0" i="0">
                <a:solidFill>
                  <a:srgbClr val="A0AEC4"/>
                </a:solidFill>
                <a:latin typeface="Calibri"/>
              </a:rPr>
              <a:t>Having missed payments (Red dots) surges SHAP values toward the right, strongly accelerating default risk.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965192"/>
            <a:ext cx="4572000" cy="868680"/>
          </a:xfrm>
          <a:prstGeom prst="rect">
            <a:avLst/>
          </a:prstGeom>
          <a:solidFill>
            <a:srgbClr val="1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020056"/>
            <a:ext cx="438912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FF9800"/>
                </a:solidFill>
                <a:latin typeface="Calibri"/>
              </a:rPr>
              <a:t>4. credit_utilization &amp; loan_amount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276088"/>
            <a:ext cx="43891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50" b="0" i="0">
                <a:solidFill>
                  <a:srgbClr val="A0AEC4"/>
                </a:solidFill>
                <a:latin typeface="Calibri"/>
              </a:rPr>
              <a:t>High card utilization and large loan balances push risk higher, but exhibit non-linear spreads.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06440" y="1234440"/>
            <a:ext cx="5943600" cy="5120640"/>
          </a:xfrm>
          <a:prstGeom prst="rect">
            <a:avLst/>
          </a:prstGeom>
          <a:solidFill>
            <a:srgbClr val="1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0" y="1371600"/>
            <a:ext cx="5486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SHAP Summary (Beeswarm) Plot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1691640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50" b="0" i="0">
                <a:solidFill>
                  <a:srgbClr val="A0AEC4"/>
                </a:solidFill>
                <a:latin typeface="Calibri"/>
              </a:rPr>
              <a:t>Every dot represents a customer instance in the test cohort: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89320" y="2011680"/>
            <a:ext cx="5577840" cy="3108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cell_6_out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103120"/>
            <a:ext cx="5394960" cy="292608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989320" y="5212080"/>
            <a:ext cx="55778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50" b="1" i="0">
                <a:solidFill>
                  <a:srgbClr val="4FC3F7"/>
                </a:solidFill>
                <a:latin typeface="Calibri"/>
              </a:rPr>
              <a:t>• Y-Axis: Features ranked by total impact   |   X-Axis: SHAP value (impact on prediction)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9320" y="5486400"/>
            <a:ext cx="55778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50" b="0" i="0">
                <a:solidFill>
                  <a:srgbClr val="A0AEC4"/>
                </a:solidFill>
                <a:latin typeface="Calibri"/>
              </a:rPr>
              <a:t>• Dot Color: Red = High feature value, Blue = Low feature value (Right = High default risk)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64008" cy="594360"/>
          </a:xfrm>
          <a:prstGeom prst="rect">
            <a:avLst/>
          </a:prstGeom>
          <a:solidFill>
            <a:srgbClr val="54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Local Explainability: SHAP Waterfall Plot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0972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0">
                <a:solidFill>
                  <a:srgbClr val="A0AEC4"/>
                </a:solidFill>
                <a:latin typeface="Calibri"/>
              </a:rPr>
              <a:t>Deconstructing an individual prediction: exactly why Applicant #0 was approved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5029200" cy="5120640"/>
          </a:xfrm>
          <a:prstGeom prst="rect">
            <a:avLst/>
          </a:prstGeom>
          <a:solidFill>
            <a:srgbClr val="1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4572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 i="0">
                <a:solidFill>
                  <a:srgbClr val="4FC3F7"/>
                </a:solidFill>
                <a:latin typeface="Calibri"/>
              </a:rPr>
              <a:t>Applicant #0 Case Audit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4572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Baseline Portfolio Default Log-Odds: E[f(X)] = +0.26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084831"/>
            <a:ext cx="4572000" cy="777240"/>
          </a:xfrm>
          <a:prstGeom prst="rect">
            <a:avLst/>
          </a:prstGeom>
          <a:solidFill>
            <a:srgbClr val="1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39695"/>
            <a:ext cx="438912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50" b="1" i="0">
                <a:solidFill>
                  <a:srgbClr val="4FC3F7"/>
                </a:solidFill>
                <a:latin typeface="Calibri"/>
              </a:rPr>
              <a:t>age = 51.9 yrs (Δ = -1.88)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39"/>
            <a:ext cx="43891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A0AEC4"/>
                </a:solidFill>
                <a:latin typeface="Calibri"/>
              </a:rPr>
              <a:t>Mature age provided the single largest protective pull down from the default threshold.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953511"/>
            <a:ext cx="4572000" cy="777240"/>
          </a:xfrm>
          <a:prstGeom prst="rect">
            <a:avLst/>
          </a:prstGeom>
          <a:solidFill>
            <a:srgbClr val="1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008375"/>
            <a:ext cx="438912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50" b="1" i="0">
                <a:solidFill>
                  <a:srgbClr val="4CAF50"/>
                </a:solidFill>
                <a:latin typeface="Calibri"/>
              </a:rPr>
              <a:t>missed_payments = 0 (Δ = -0.68)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246119"/>
            <a:ext cx="43891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A0AEC4"/>
                </a:solidFill>
                <a:latin typeface="Calibri"/>
              </a:rPr>
              <a:t>Flawless repayment record significantly lowered default probability.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822191"/>
            <a:ext cx="4572000" cy="777240"/>
          </a:xfrm>
          <a:prstGeom prst="rect">
            <a:avLst/>
          </a:prstGeom>
          <a:solidFill>
            <a:srgbClr val="1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877055"/>
            <a:ext cx="438912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50" b="1" i="0">
                <a:solidFill>
                  <a:srgbClr val="4CAF50"/>
                </a:solidFill>
                <a:latin typeface="Calibri"/>
              </a:rPr>
              <a:t>credit_utilization = 0.20 (Δ = -0.22)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114799"/>
            <a:ext cx="43891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A0AEC4"/>
                </a:solidFill>
                <a:latin typeface="Calibri"/>
              </a:rPr>
              <a:t>Conservative 20% card balance reduced risk further.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690871"/>
            <a:ext cx="4572000" cy="777240"/>
          </a:xfrm>
          <a:prstGeom prst="rect">
            <a:avLst/>
          </a:prstGeom>
          <a:solidFill>
            <a:srgbClr val="1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745735"/>
            <a:ext cx="438912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50" b="1" i="0">
                <a:solidFill>
                  <a:srgbClr val="EF5350"/>
                </a:solidFill>
                <a:latin typeface="Calibri"/>
              </a:rPr>
              <a:t>years_employed = -0.18 (Δ = +0.11)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983479"/>
            <a:ext cx="43891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A0AEC4"/>
                </a:solidFill>
                <a:latin typeface="Calibri"/>
              </a:rPr>
              <a:t>Slightly lower tenure contributed a small positive push toward default risk.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5596128"/>
            <a:ext cx="4572000" cy="621792"/>
          </a:xfrm>
          <a:prstGeom prst="rect">
            <a:avLst/>
          </a:prstGeom>
          <a:solidFill>
            <a:srgbClr val="2A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650992"/>
            <a:ext cx="43891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 i="0">
                <a:solidFill>
                  <a:srgbClr val="4CAF50"/>
                </a:solidFill>
                <a:latin typeface="Calibri"/>
              </a:rPr>
              <a:t>Prediction: f(x) = -2.701  (Default Prob: ~6.3%)
Decision: Confident Approval (Low Default Risk)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06440" y="1234440"/>
            <a:ext cx="5943600" cy="5120640"/>
          </a:xfrm>
          <a:prstGeom prst="rect">
            <a:avLst/>
          </a:prstGeom>
          <a:solidFill>
            <a:srgbClr val="1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1371600"/>
            <a:ext cx="5486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SHAP Waterfall Plot 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1691640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50" b="0" i="0">
                <a:solidFill>
                  <a:srgbClr val="A0AEC4"/>
                </a:solidFill>
                <a:latin typeface="Calibri"/>
              </a:rPr>
              <a:t>Step-by-step vector push &amp; pull from expected value to final decision: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2011680"/>
            <a:ext cx="5577840" cy="3108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cell_8_out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103120"/>
            <a:ext cx="5394960" cy="29260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9320" y="5212080"/>
            <a:ext cx="55778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50" b="1" i="0">
                <a:solidFill>
                  <a:srgbClr val="4FC3F7"/>
                </a:solidFill>
                <a:latin typeface="Calibri"/>
              </a:rPr>
              <a:t>• Red arrows (+): Push risk UP (unfavorable)   |   Blue arrows (-): Pull risk DOWN (favorable)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9320" y="5486400"/>
            <a:ext cx="55778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50" b="0" i="0">
                <a:solidFill>
                  <a:srgbClr val="A0AEC4"/>
                </a:solidFill>
                <a:latin typeface="Calibri"/>
              </a:rPr>
              <a:t>• Perfect mathematical additivity: 0.26 + (-0.07 + 0.11 - 0.22 - 0.22 - 0.68 - 1.88) = -2.70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64008" cy="594360"/>
          </a:xfrm>
          <a:prstGeom prst="rect">
            <a:avLst/>
          </a:prstGeom>
          <a:solidFill>
            <a:srgbClr val="54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LIME — Local Interpretable Model-agnostic Explanations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0972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0">
                <a:solidFill>
                  <a:srgbClr val="A0AEC4"/>
                </a:solidFill>
                <a:latin typeface="Calibri"/>
              </a:rPr>
              <a:t>Approximating complex black-box boundaries with local linear surrogate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6217920" cy="5120640"/>
          </a:xfrm>
          <a:prstGeom prst="rect">
            <a:avLst/>
          </a:prstGeom>
          <a:solidFill>
            <a:srgbClr val="1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57607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 i="0">
                <a:solidFill>
                  <a:srgbClr val="4FC3F7"/>
                </a:solidFill>
                <a:latin typeface="Calibri"/>
              </a:rPr>
              <a:t>The 5-Step LIME Mechanism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783080"/>
            <a:ext cx="411480" cy="411480"/>
          </a:xfrm>
          <a:prstGeom prst="rect">
            <a:avLst/>
          </a:prstGeom>
          <a:solidFill>
            <a:srgbClr val="54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19656"/>
            <a:ext cx="411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801368"/>
            <a:ext cx="530352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 i="0">
                <a:solidFill>
                  <a:srgbClr val="547AFF"/>
                </a:solidFill>
                <a:latin typeface="Calibri"/>
              </a:rPr>
              <a:t>Select the Instance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057400"/>
            <a:ext cx="53035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A0AEC4"/>
                </a:solidFill>
                <a:latin typeface="Calibri"/>
              </a:rPr>
              <a:t>Choose the single prediction you wish to explain (e.g. loan applicant #1042).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651760"/>
            <a:ext cx="411480" cy="41148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688336"/>
            <a:ext cx="411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670048"/>
            <a:ext cx="530352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 i="0">
                <a:solidFill>
                  <a:srgbClr val="4FC3F7"/>
                </a:solidFill>
                <a:latin typeface="Calibri"/>
              </a:rPr>
              <a:t>Perturb the Neighborhood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926080"/>
            <a:ext cx="53035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A0AEC4"/>
                </a:solidFill>
                <a:latin typeface="Calibri"/>
              </a:rPr>
              <a:t>Generate hundreds of synthetic variations around the customer by adding slight random noise.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520439"/>
            <a:ext cx="411480" cy="4114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557015"/>
            <a:ext cx="411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538727"/>
            <a:ext cx="530352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 i="0">
                <a:solidFill>
                  <a:srgbClr val="FF9800"/>
                </a:solidFill>
                <a:latin typeface="Calibri"/>
              </a:rPr>
              <a:t>Predict with Black-Box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794759"/>
            <a:ext cx="53035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A0AEC4"/>
                </a:solidFill>
                <a:latin typeface="Calibri"/>
              </a:rPr>
              <a:t>Run all perturbed variations through the complex model to obtain class probabilities.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4389120"/>
            <a:ext cx="411480" cy="4114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425696"/>
            <a:ext cx="411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407408"/>
            <a:ext cx="530352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 i="0">
                <a:solidFill>
                  <a:srgbClr val="4CAF50"/>
                </a:solidFill>
                <a:latin typeface="Calibri"/>
              </a:rPr>
              <a:t>Proximity Weighting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663440"/>
            <a:ext cx="53035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A0AEC4"/>
                </a:solidFill>
                <a:latin typeface="Calibri"/>
              </a:rPr>
              <a:t>Weight each perturbed instance exponentially based on its distance to the original instance.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5257800"/>
            <a:ext cx="411480" cy="411480"/>
          </a:xfrm>
          <a:prstGeom prst="rect">
            <a:avLst/>
          </a:prstGeom>
          <a:solidFill>
            <a:srgbClr val="79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294376"/>
            <a:ext cx="411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5276088"/>
            <a:ext cx="530352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 i="0">
                <a:solidFill>
                  <a:srgbClr val="7986CB"/>
                </a:solidFill>
                <a:latin typeface="Calibri"/>
              </a:rPr>
              <a:t>Fit Linear Surrogate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5532120"/>
            <a:ext cx="53035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A0AEC4"/>
                </a:solidFill>
                <a:latin typeface="Calibri"/>
              </a:rPr>
              <a:t>Fit an interpretable linear model on the weighted samples — its coefficients ARE the explanation!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03720" y="1234440"/>
            <a:ext cx="4846320" cy="5120640"/>
          </a:xfrm>
          <a:prstGeom prst="rect">
            <a:avLst/>
          </a:prstGeom>
          <a:solidFill>
            <a:srgbClr val="1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0" y="1371600"/>
            <a:ext cx="43891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 i="0">
                <a:solidFill>
                  <a:srgbClr val="4FC3F7"/>
                </a:solidFill>
                <a:latin typeface="Calibri"/>
              </a:rPr>
              <a:t>LIME Tabular in Python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86600" y="1783080"/>
            <a:ext cx="4480560" cy="2651760"/>
          </a:xfrm>
          <a:prstGeom prst="rect">
            <a:avLst/>
          </a:prstGeom>
          <a:solidFill>
            <a:srgbClr val="11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78040" y="1847088"/>
            <a:ext cx="429768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 i="0">
                <a:solidFill>
                  <a:srgbClr val="4FC3F7"/>
                </a:solidFill>
                <a:latin typeface="Consolas"/>
              </a:rPr>
              <a:t>from lime import lime_tabular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78040" y="2039112"/>
            <a:ext cx="429768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 i="0">
                <a:solidFill>
                  <a:srgbClr val="4FC3F7"/>
                </a:solidFill>
                <a:latin typeface="Consolas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78040" y="2231136"/>
            <a:ext cx="429768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 i="0">
                <a:solidFill>
                  <a:srgbClr val="4FC3F7"/>
                </a:solidFill>
                <a:latin typeface="Consolas"/>
              </a:rPr>
              <a:t>explainer = lime_tabular.LimeTabularExplainer(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78040" y="2423160"/>
            <a:ext cx="429768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 i="0">
                <a:solidFill>
                  <a:srgbClr val="4FC3F7"/>
                </a:solidFill>
                <a:latin typeface="Consolas"/>
              </a:rPr>
              <a:t>    X_train.values,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78040" y="2615184"/>
            <a:ext cx="429768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 i="0">
                <a:solidFill>
                  <a:srgbClr val="4FC3F7"/>
                </a:solidFill>
                <a:latin typeface="Consolas"/>
              </a:rPr>
              <a:t>    feature_names=feature_names,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78040" y="2807208"/>
            <a:ext cx="429768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 i="0">
                <a:solidFill>
                  <a:srgbClr val="4FC3F7"/>
                </a:solidFill>
                <a:latin typeface="Consolas"/>
              </a:rPr>
              <a:t>    class_names=['No Default', 'Default'],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8040" y="2999232"/>
            <a:ext cx="429768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 i="0">
                <a:solidFill>
                  <a:srgbClr val="4FC3F7"/>
                </a:solidFill>
                <a:latin typeface="Consolas"/>
              </a:rPr>
              <a:t>    mode='classification'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78040" y="3191256"/>
            <a:ext cx="429768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 i="0">
                <a:solidFill>
                  <a:srgbClr val="4FC3F7"/>
                </a:solidFill>
                <a:latin typeface="Consolas"/>
              </a:rPr>
              <a:t>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78040" y="3383280"/>
            <a:ext cx="429768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 i="0">
                <a:solidFill>
                  <a:srgbClr val="4FC3F7"/>
                </a:solidFill>
                <a:latin typeface="Consolas"/>
              </a:rPr>
              <a:t/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78040" y="3575304"/>
            <a:ext cx="429768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 i="0">
                <a:solidFill>
                  <a:srgbClr val="4FC3F7"/>
                </a:solidFill>
                <a:latin typeface="Consolas"/>
              </a:rPr>
              <a:t>exp = explainer.explain_instance(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78040" y="3767328"/>
            <a:ext cx="429768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 i="0">
                <a:solidFill>
                  <a:srgbClr val="4FC3F7"/>
                </a:solidFill>
                <a:latin typeface="Consolas"/>
              </a:rPr>
              <a:t>    X_test.iloc[0].values,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78040" y="3959352"/>
            <a:ext cx="429768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 i="0">
                <a:solidFill>
                  <a:srgbClr val="4FC3F7"/>
                </a:solidFill>
                <a:latin typeface="Consolas"/>
              </a:rPr>
              <a:t>    model.predict_proba,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78040" y="4151376"/>
            <a:ext cx="429768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 i="0">
                <a:solidFill>
                  <a:srgbClr val="4FC3F7"/>
                </a:solidFill>
                <a:latin typeface="Consolas"/>
              </a:rPr>
              <a:t>    num_features=5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78040" y="4343400"/>
            <a:ext cx="429768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 i="0">
                <a:solidFill>
                  <a:srgbClr val="4FC3F7"/>
                </a:solidFill>
                <a:latin typeface="Consolas"/>
              </a:rPr>
              <a:t>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2320" y="4526280"/>
            <a:ext cx="4389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Why Business Leaders Love LIME: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32320" y="4800600"/>
            <a:ext cx="438912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A0AEC4"/>
                </a:solidFill>
                <a:latin typeface="Calibri"/>
              </a:rPr>
              <a:t>LIME outputs human-readable decision intervals:
• '0.16 &lt; credit_utilization &lt;= 0.27' ➔ -0.033 default risk
• Non-technical stakeholders grasp threshold bounds without math training.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64008" cy="594360"/>
          </a:xfrm>
          <a:prstGeom prst="rect">
            <a:avLst/>
          </a:prstGeom>
          <a:solidFill>
            <a:srgbClr val="54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SHAP vs. LIME — Head-to-Head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0972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0">
                <a:solidFill>
                  <a:srgbClr val="A0AEC4"/>
                </a:solidFill>
                <a:latin typeface="Calibri"/>
              </a:rPr>
              <a:t>Selecting the right explainability engine based on technical and business requirements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74552" cy="438912"/>
          </a:xfrm>
          <a:prstGeom prst="rect">
            <a:avLst/>
          </a:prstGeom>
          <a:solidFill>
            <a:srgbClr val="2A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2926080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50" b="1" i="0">
                <a:solidFill>
                  <a:srgbClr val="4FC3F7"/>
                </a:solidFill>
                <a:latin typeface="Calibri"/>
              </a:rPr>
              <a:t>Evaluation Dimension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280160"/>
            <a:ext cx="3657600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50" b="1" i="0">
                <a:solidFill>
                  <a:srgbClr val="4FC3F7"/>
                </a:solidFill>
                <a:latin typeface="Calibri"/>
              </a:rPr>
              <a:t>SHAP (SHapley Additive exPlanations)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280160"/>
            <a:ext cx="3657600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50" b="1" i="0">
                <a:solidFill>
                  <a:srgbClr val="FF9800"/>
                </a:solidFill>
                <a:latin typeface="Calibri"/>
              </a:rPr>
              <a:t>LIME (Local Interpretable Surrogate)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19072"/>
            <a:ext cx="11274552" cy="658368"/>
          </a:xfrm>
          <a:prstGeom prst="rect">
            <a:avLst/>
          </a:prstGeom>
          <a:solidFill>
            <a:srgbClr val="1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83664"/>
            <a:ext cx="310896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Explainability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828800"/>
            <a:ext cx="374903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4FC3F7"/>
                </a:solidFill>
                <a:latin typeface="Calibri"/>
              </a:rPr>
              <a:t>Global (entire dataset) &amp; Local (single instance)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828800"/>
            <a:ext cx="374903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FF9800"/>
                </a:solidFill>
                <a:latin typeface="Calibri"/>
              </a:rPr>
              <a:t>Local only (explains one specific decision at a time)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395728"/>
            <a:ext cx="11274552" cy="658368"/>
          </a:xfrm>
          <a:prstGeom prst="rect">
            <a:avLst/>
          </a:prstGeom>
          <a:solidFill>
            <a:srgbClr val="1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560320"/>
            <a:ext cx="310896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Theoretical Foundation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505456"/>
            <a:ext cx="374903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4FC3F7"/>
                </a:solidFill>
                <a:latin typeface="Calibri"/>
              </a:rPr>
              <a:t>Cooperative Game Theory (Axiomatic Lloyd Shapley)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505456"/>
            <a:ext cx="374903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FF9800"/>
                </a:solidFill>
                <a:latin typeface="Calibri"/>
              </a:rPr>
              <a:t>Local Linear Surrogate (Perturbation approximation)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072384"/>
            <a:ext cx="11274552" cy="658368"/>
          </a:xfrm>
          <a:prstGeom prst="rect">
            <a:avLst/>
          </a:prstGeom>
          <a:solidFill>
            <a:srgbClr val="1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236976"/>
            <a:ext cx="310896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Execution Speed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3182112"/>
            <a:ext cx="374903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4FC3F7"/>
                </a:solidFill>
                <a:latin typeface="Calibri"/>
              </a:rPr>
              <a:t>Ultra-fast for tree models via TreeExplainer O(TLD²)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3182112"/>
            <a:ext cx="374903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FF9800"/>
                </a:solidFill>
                <a:latin typeface="Calibri"/>
              </a:rPr>
              <a:t>Moderate — must score 500–5000 perturbed instances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749039"/>
            <a:ext cx="11274552" cy="658368"/>
          </a:xfrm>
          <a:prstGeom prst="rect">
            <a:avLst/>
          </a:prstGeom>
          <a:solidFill>
            <a:srgbClr val="1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913631"/>
            <a:ext cx="310896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Consistency Guarantee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3858767"/>
            <a:ext cx="374903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4FC3F7"/>
                </a:solidFill>
                <a:latin typeface="Calibri"/>
              </a:rPr>
              <a:t>100% mathematically consistent &amp; additive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3858767"/>
            <a:ext cx="374903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FF9800"/>
                </a:solidFill>
                <a:latin typeface="Calibri"/>
              </a:rPr>
              <a:t>Stochastic — outputs can vary slightly between runs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425696"/>
            <a:ext cx="11274552" cy="658368"/>
          </a:xfrm>
          <a:prstGeom prst="rect">
            <a:avLst/>
          </a:prstGeom>
          <a:solidFill>
            <a:srgbClr val="1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590288"/>
            <a:ext cx="310896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Audience Fit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4535424"/>
            <a:ext cx="374903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4FC3F7"/>
                </a:solidFill>
                <a:latin typeface="Calibri"/>
              </a:rPr>
              <a:t>Regulators, Auditors, Compliance, Data Scientists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4535424"/>
            <a:ext cx="374903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FF9800"/>
                </a:solidFill>
                <a:latin typeface="Calibri"/>
              </a:rPr>
              <a:t>Business Stakeholders, Fast Prototyping, UI widgets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102352"/>
            <a:ext cx="11274552" cy="658368"/>
          </a:xfrm>
          <a:prstGeom prst="rect">
            <a:avLst/>
          </a:prstGeom>
          <a:solidFill>
            <a:srgbClr val="1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266944"/>
            <a:ext cx="310896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Data Modalities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5212080"/>
            <a:ext cx="374903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4FC3F7"/>
                </a:solidFill>
                <a:latin typeface="Calibri"/>
              </a:rPr>
              <a:t>Tabular, Text, Image (Dedicated explainers)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5212080"/>
            <a:ext cx="374903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FF9800"/>
                </a:solidFill>
                <a:latin typeface="Calibri"/>
              </a:rPr>
              <a:t>Tabular, Text, Image (Native perturbation support)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897880"/>
            <a:ext cx="11274552" cy="502920"/>
          </a:xfrm>
          <a:prstGeom prst="rect">
            <a:avLst/>
          </a:prstGeom>
          <a:solidFill>
            <a:srgbClr val="2A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961888"/>
            <a:ext cx="108813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50" b="1" i="0">
                <a:solidFill>
                  <a:srgbClr val="4CAF50"/>
                </a:solidFill>
                <a:latin typeface="Calibri"/>
              </a:rPr>
              <a:t>💡 Industry Rule of Thumb: Use SHAP for mission-critical regulatory filings and audits. Use LIME for interactive UI explanations.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64008" cy="594360"/>
          </a:xfrm>
          <a:prstGeom prst="rect">
            <a:avLst/>
          </a:prstGeom>
          <a:solidFill>
            <a:srgbClr val="54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The Business Translation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0972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0">
                <a:solidFill>
                  <a:srgbClr val="A0AEC4"/>
                </a:solidFill>
                <a:latin typeface="Calibri"/>
              </a:rPr>
              <a:t>Never hand raw numbers to leadership — convert mathematical outputs into human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74552" cy="594360"/>
          </a:xfrm>
          <a:prstGeom prst="rect">
            <a:avLst/>
          </a:prstGeom>
          <a:solidFill>
            <a:srgbClr val="1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32004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4FC3F7"/>
                </a:solidFill>
                <a:latin typeface="Calibri"/>
              </a:rPr>
              <a:t>THE 3-STEP TRANSLATION FORMULA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108813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[Observed Feature Value]  ➔  [Direction &amp; Probability Impact]  ➔  [Actionable Next Step / Counterfactual]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65960"/>
            <a:ext cx="11274552" cy="1828800"/>
          </a:xfrm>
          <a:prstGeom prst="rect">
            <a:avLst/>
          </a:prstGeom>
          <a:solidFill>
            <a:srgbClr val="1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57400"/>
            <a:ext cx="10515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i="0">
                <a:solidFill>
                  <a:srgbClr val="FF9800"/>
                </a:solidFill>
                <a:latin typeface="Calibri"/>
              </a:rPr>
              <a:t>Scenario 1: High Default Risk Flag (Adverse Action Notice)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423160"/>
            <a:ext cx="10817352" cy="457200"/>
          </a:xfrm>
          <a:prstGeom prst="rect">
            <a:avLst/>
          </a:prstGeom>
          <a:solidFill>
            <a:srgbClr val="11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496312"/>
            <a:ext cx="10515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4FC3F7"/>
                </a:solidFill>
                <a:latin typeface="Consolas"/>
              </a:rPr>
              <a:t>Technical Output: Feature 'credit_utilization' has SHAP value +0.23 for applicant #1042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971800"/>
            <a:ext cx="10817352" cy="685800"/>
          </a:xfrm>
          <a:prstGeom prst="rect">
            <a:avLst/>
          </a:prstGeom>
          <a:solidFill>
            <a:srgbClr val="1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063240"/>
            <a:ext cx="10515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4CAF50"/>
                </a:solidFill>
                <a:latin typeface="Calibri"/>
              </a:rPr>
              <a:t>Executive Narrative: "High revolving card utilization (87%) elevated this applicant's default probability by 23 percentage points, making it the dominant risk factor leading to denial."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931920"/>
            <a:ext cx="11274552" cy="1828800"/>
          </a:xfrm>
          <a:prstGeom prst="rect">
            <a:avLst/>
          </a:prstGeom>
          <a:solidFill>
            <a:srgbClr val="1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023360"/>
            <a:ext cx="10515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i="0">
                <a:solidFill>
                  <a:srgbClr val="4FC3F7"/>
                </a:solidFill>
                <a:latin typeface="Calibri"/>
              </a:rPr>
              <a:t>Scenario 2: Approval Justification (Mitigating Factor)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389120"/>
            <a:ext cx="10817352" cy="457200"/>
          </a:xfrm>
          <a:prstGeom prst="rect">
            <a:avLst/>
          </a:prstGeom>
          <a:solidFill>
            <a:srgbClr val="11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462272"/>
            <a:ext cx="10515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4FC3F7"/>
                </a:solidFill>
                <a:latin typeface="Consolas"/>
              </a:rPr>
              <a:t>Technical Output: Feature 'years_employed' = 8.0 has SHAP value -0.15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937760"/>
            <a:ext cx="10817352" cy="685800"/>
          </a:xfrm>
          <a:prstGeom prst="rect">
            <a:avLst/>
          </a:prstGeom>
          <a:solidFill>
            <a:srgbClr val="1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029200"/>
            <a:ext cx="10515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4CAF50"/>
                </a:solidFill>
                <a:latin typeface="Calibri"/>
              </a:rPr>
              <a:t>Executive Narrative: "Stable 8-year continuous employment tenure reduced default probability by 15 percentage points — providing sufficient collateral stability to approve the financing."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897880"/>
            <a:ext cx="11274552" cy="502920"/>
          </a:xfrm>
          <a:prstGeom prst="rect">
            <a:avLst/>
          </a:prstGeom>
          <a:solidFill>
            <a:srgbClr val="2A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961888"/>
            <a:ext cx="108813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50" b="1" i="0">
                <a:solidFill>
                  <a:srgbClr val="4FC3F7"/>
                </a:solidFill>
                <a:latin typeface="Calibri"/>
              </a:rPr>
              <a:t>🔄 Actionable Counterfactual: 'If the applicant pays down credit utilization below 30%, the application shifts into the approved band.'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64008" cy="594360"/>
          </a:xfrm>
          <a:prstGeom prst="rect">
            <a:avLst/>
          </a:prstGeom>
          <a:solidFill>
            <a:srgbClr val="54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Best Practices &amp; 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0972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0">
                <a:solidFill>
                  <a:srgbClr val="A0AEC4"/>
                </a:solidFill>
                <a:latin typeface="Calibri"/>
              </a:rPr>
              <a:t>Practical guidance for deploying explainable machine learning in production enterprises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5486400" cy="1536192"/>
          </a:xfrm>
          <a:prstGeom prst="rect">
            <a:avLst/>
          </a:prstGeom>
          <a:solidFill>
            <a:srgbClr val="1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54864" cy="153619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399032"/>
            <a:ext cx="4114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Segoe UI Emoji"/>
              </a:rPr>
              <a:t>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371600"/>
            <a:ext cx="47548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50" b="1" i="0">
                <a:solidFill>
                  <a:srgbClr val="4CAF50"/>
                </a:solidFill>
                <a:latin typeface="Calibri"/>
              </a:rPr>
              <a:t>Pair Charts with Plain-English Sentences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1709928"/>
            <a:ext cx="4709160" cy="960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A0AEC4"/>
                </a:solidFill>
                <a:latin typeface="Calibri"/>
              </a:rPr>
              <a:t>Never present a raw SHAP or LIME chart to an executive or regulator without 2–3 written sentences summarizing business impact.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234440"/>
            <a:ext cx="5486400" cy="1536192"/>
          </a:xfrm>
          <a:prstGeom prst="rect">
            <a:avLst/>
          </a:prstGeom>
          <a:solidFill>
            <a:srgbClr val="1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234440"/>
            <a:ext cx="54864" cy="153619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399032"/>
            <a:ext cx="4114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Segoe UI Emoji"/>
              </a:rPr>
              <a:t>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85432" y="1371600"/>
            <a:ext cx="47548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50" b="1" i="0">
                <a:solidFill>
                  <a:srgbClr val="4CAF50"/>
                </a:solidFill>
                <a:latin typeface="Calibri"/>
              </a:rPr>
              <a:t>Use Waterfall Plots for Adverse 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85432" y="1709928"/>
            <a:ext cx="4709160" cy="960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A0AEC4"/>
                </a:solidFill>
                <a:latin typeface="Calibri"/>
              </a:rPr>
              <a:t>Loan officers, doctors, and compliance staff need per-instance itemized deductions to clearly explain specific rejections.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98648"/>
            <a:ext cx="5486400" cy="1536192"/>
          </a:xfrm>
          <a:prstGeom prst="rect">
            <a:avLst/>
          </a:prstGeom>
          <a:solidFill>
            <a:srgbClr val="1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898648"/>
            <a:ext cx="54864" cy="153619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3063240"/>
            <a:ext cx="4114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Segoe UI Emoji"/>
              </a:rPr>
              <a:t>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3035808"/>
            <a:ext cx="47548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50" b="1" i="0">
                <a:solidFill>
                  <a:srgbClr val="4CAF50"/>
                </a:solidFill>
                <a:latin typeface="Calibri"/>
              </a:rPr>
              <a:t>Use Summary Bar Charts for Leadership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3374136"/>
            <a:ext cx="4709160" cy="960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A0AEC4"/>
                </a:solidFill>
                <a:latin typeface="Calibri"/>
              </a:rPr>
              <a:t>C-suite executives need the top 5 macro drivers across the portfolio, not a complex beeswarm scatter plot with 50 features.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2898648"/>
            <a:ext cx="5486400" cy="1536192"/>
          </a:xfrm>
          <a:prstGeom prst="rect">
            <a:avLst/>
          </a:prstGeom>
          <a:solidFill>
            <a:srgbClr val="1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2898648"/>
            <a:ext cx="54864" cy="153619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063240"/>
            <a:ext cx="4114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Segoe UI Emoji"/>
              </a:rPr>
              <a:t>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85432" y="3035808"/>
            <a:ext cx="47548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50" b="1" i="0">
                <a:solidFill>
                  <a:srgbClr val="FF9800"/>
                </a:solidFill>
                <a:latin typeface="Calibri"/>
              </a:rPr>
              <a:t>Don't Rely on Default Gini Importance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85432" y="3374136"/>
            <a:ext cx="4709160" cy="960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A0AEC4"/>
                </a:solidFill>
                <a:latin typeface="Calibri"/>
              </a:rPr>
              <a:t>Random Forest Gini importance overvalues high-cardinality features and ignores correlation — SHAP is far more reliable.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562856"/>
            <a:ext cx="5486400" cy="1536192"/>
          </a:xfrm>
          <a:prstGeom prst="rect">
            <a:avLst/>
          </a:prstGeom>
          <a:solidFill>
            <a:srgbClr val="1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562856"/>
            <a:ext cx="54864" cy="153619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4727448"/>
            <a:ext cx="4114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Segoe UI Emoji"/>
              </a:rPr>
              <a:t>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" y="4700016"/>
            <a:ext cx="47548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50" b="1" i="0">
                <a:solidFill>
                  <a:srgbClr val="4CAF50"/>
                </a:solidFill>
                <a:latin typeface="Calibri"/>
              </a:rPr>
              <a:t>Always Deliver Counterfactual Explanations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" y="5038344"/>
            <a:ext cx="4709160" cy="960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A0AEC4"/>
                </a:solidFill>
                <a:latin typeface="Calibri"/>
              </a:rPr>
              <a:t>Don't just explain why an application failed — tell the customer what specific behavior will flip the outcome to approved.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4562856"/>
            <a:ext cx="5486400" cy="1536192"/>
          </a:xfrm>
          <a:prstGeom prst="rect">
            <a:avLst/>
          </a:prstGeom>
          <a:solidFill>
            <a:srgbClr val="1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3640" y="4562856"/>
            <a:ext cx="54864" cy="1536192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28232" y="4727448"/>
            <a:ext cx="4114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Segoe UI Emoji"/>
              </a:rPr>
              <a:t>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85432" y="4700016"/>
            <a:ext cx="47548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50" b="1" i="0">
                <a:solidFill>
                  <a:srgbClr val="EF5350"/>
                </a:solidFill>
                <a:latin typeface="Calibri"/>
              </a:rPr>
              <a:t>Don't Explain Features Without Context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85432" y="5038344"/>
            <a:ext cx="4709160" cy="960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A0AEC4"/>
                </a:solidFill>
                <a:latin typeface="Calibri"/>
              </a:rPr>
              <a:t>Naming a feature alone ('credit score') means nothing without its current value, directional pull, and business scale.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64008" cy="594360"/>
          </a:xfrm>
          <a:prstGeom prst="rect">
            <a:avLst/>
          </a:prstGeom>
          <a:solidFill>
            <a:srgbClr val="54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Quick Reference Quiz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0972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0">
                <a:solidFill>
                  <a:srgbClr val="A0AEC4"/>
                </a:solidFill>
                <a:latin typeface="Calibri"/>
              </a:rPr>
              <a:t>Check your understanding of Explainability AI before concluding the session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74552" cy="877824"/>
          </a:xfrm>
          <a:prstGeom prst="rect">
            <a:avLst/>
          </a:prstGeom>
          <a:solidFill>
            <a:srgbClr val="1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99032"/>
            <a:ext cx="548640" cy="548640"/>
          </a:xfrm>
          <a:prstGeom prst="rect">
            <a:avLst/>
          </a:prstGeom>
          <a:solidFill>
            <a:srgbClr val="54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35608"/>
            <a:ext cx="5486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325880"/>
            <a:ext cx="10241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Which major regulation establishes a legal 'right to explanation' for automated AI decisions in the EU?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673352"/>
            <a:ext cx="10241280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4FC3F7"/>
                </a:solidFill>
                <a:latin typeface="Calibri"/>
              </a:rPr>
              <a:t>Answer: GDPR Article 22 (General Data Protection Regulation)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03704"/>
            <a:ext cx="11274552" cy="877824"/>
          </a:xfrm>
          <a:prstGeom prst="rect">
            <a:avLst/>
          </a:prstGeom>
          <a:solidFill>
            <a:srgbClr val="1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368296"/>
            <a:ext cx="548640" cy="548640"/>
          </a:xfrm>
          <a:prstGeom prst="rect">
            <a:avLst/>
          </a:prstGeom>
          <a:solidFill>
            <a:srgbClr val="54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404872"/>
            <a:ext cx="5486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Q2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295144"/>
            <a:ext cx="10241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What is the core mathematical guarantee of SHAP that separates it from heuristic methods?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642616"/>
            <a:ext cx="10241280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4FC3F7"/>
                </a:solidFill>
                <a:latin typeface="Calibri"/>
              </a:rPr>
              <a:t>Answer: Additivity / Local Accuracy: Feature SHAP values strictly sum to f(x) - E[f(x)]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172968"/>
            <a:ext cx="11274552" cy="877824"/>
          </a:xfrm>
          <a:prstGeom prst="rect">
            <a:avLst/>
          </a:prstGeom>
          <a:solidFill>
            <a:srgbClr val="1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337560"/>
            <a:ext cx="548640" cy="548640"/>
          </a:xfrm>
          <a:prstGeom prst="rect">
            <a:avLst/>
          </a:prstGeom>
          <a:solidFill>
            <a:srgbClr val="54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374136"/>
            <a:ext cx="5486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Q3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264408"/>
            <a:ext cx="10241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Why is standard Random Forest Gini feature importance problematic compared to SHAP?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611880"/>
            <a:ext cx="10241280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4FC3F7"/>
                </a:solidFill>
                <a:latin typeface="Calibri"/>
              </a:rPr>
              <a:t>Answer: Gini importance is biased toward high-cardinality features and ignores feature interactions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142232"/>
            <a:ext cx="11274552" cy="877824"/>
          </a:xfrm>
          <a:prstGeom prst="rect">
            <a:avLst/>
          </a:prstGeom>
          <a:solidFill>
            <a:srgbClr val="1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306824"/>
            <a:ext cx="548640" cy="548640"/>
          </a:xfrm>
          <a:prstGeom prst="rect">
            <a:avLst/>
          </a:prstGeom>
          <a:solidFill>
            <a:srgbClr val="54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343400"/>
            <a:ext cx="5486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Q4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233672"/>
            <a:ext cx="10241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What is a counterfactual explanation, and why is it valuable in credit risk?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4581144"/>
            <a:ext cx="10241280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4FC3F7"/>
                </a:solidFill>
                <a:latin typeface="Calibri"/>
              </a:rPr>
              <a:t>Answer: It specifies the minimal change in inputs required to flip the decision (e.g. 'Pay utilization below 30%')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111496"/>
            <a:ext cx="11274552" cy="877824"/>
          </a:xfrm>
          <a:prstGeom prst="rect">
            <a:avLst/>
          </a:prstGeom>
          <a:solidFill>
            <a:srgbClr val="1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5276088"/>
            <a:ext cx="548640" cy="548640"/>
          </a:xfrm>
          <a:prstGeom prst="rect">
            <a:avLst/>
          </a:prstGeom>
          <a:solidFill>
            <a:srgbClr val="54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312664"/>
            <a:ext cx="5486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Q5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5202936"/>
            <a:ext cx="10241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Which visualization should you present to an Executive Committee vs. a Loan Underwriter?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5550408"/>
            <a:ext cx="10241280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4FC3F7"/>
                </a:solidFill>
                <a:latin typeface="Calibri"/>
              </a:rPr>
              <a:t>Answer: Executive: Mean |SHAP| Bar Chart (top 5 drivers). Underwriter: Waterfall Plot (individual breakdown).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