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9260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CLOUD MLOPS &amp; AI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Azure Fundamentals &amp; Azure ML Workspace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Navigating Azure Cloud Services, Architecting Workspaces, &amp; Scaling Enterprise AI/MLOps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103327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CBD5E1"/>
                </a:solidFill>
              </a:defRPr>
            </a:pPr>
            <a:r>
              <a:t>🗓️  Day 2 | Session 09 (9:00 AM – 10:00 AM)          📦  Azure ML SDK v2          ⚡  Auto-Scaling Compute &amp; MLflow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Why Move Machine Learning to Azure?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Overcoming local workstation limitations with enterprise cloud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Local Workstation Bottlenecks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Limited Hardware: Constrained by laptop CPU/GPU RAM. Unable to train multi-gigabyte models.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No Auto-Scaling: Training jobs block local machines for hours with zero elasticity.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Siloed Artifacts: Metrics and models live in local folders without governance or versioning.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Deployment Friction: Rewriting local scripts for production servers leads to silent bugs.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78D4"/>
                </a:solidFill>
              </a:defRPr>
            </a:pPr>
            <a:r>
              <a:t>The Azure ML Cloud Solution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Elastic Compute: Provision multi-GPU clusters in minutes that auto-scale to zero when idle.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Single Pane of Glass: Unified workspace centralizing datasets, jobs, metrics, and models.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Automated Lineage: Native MLflow tracking logs every parameter, artifact, and code version.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Managed Endpoints: One-click deployment to real-time REST APIs with blue/green rollout.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CLOUD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Navigating Azure Services: Core Hierarchy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How Azure organizes billing, security boundaries, and ML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8D4"/>
                </a:solidFill>
              </a:defRPr>
            </a:pPr>
            <a:r>
              <a:t>1. Subscription  —  Master Billing &amp; Quotas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Defines the financial account boundary and enterprise quotas for GPU/CPU 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2. Resource Group  —  Project Namespace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Logical folder grouping all related resources (AML Workspace, Storage, Key Vault, ACR).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3. Region  —  Physical Data Center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Geographic data center location (e.g., East US, Southeast Asia) selected for latency &amp;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4. Azure ML Workspace  —  Central ML Hub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The top-level resource organizing all machine learning assets, compute, and deployments.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COMPANION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Core Infrastructure Quartet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Four essential Azure companion services automatically provisioned with your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💾 Azure Storage Account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Role: Blob &amp; Data Lake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Default datastore storing raw datasets, model weights (model.pkl), and job output artifacts.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🔐 Azure Key Vault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Role: Secrets &amp; Credentials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Securely manages database connection strings, S3 secrets, and API access tokens with zero hardcoding.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🐳 Container Registry (ACR)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Role: Docker Image Hub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Stores customized Docker images used to execute distributed training and containerized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E4E6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📊 Application Insights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Role: Live Telemetry Watchtower</a:t>
            </a:r>
          </a:p>
          <a:p>
            <a:br/>
            <a:pPr>
              <a:defRPr sz="1150">
                <a:solidFill>
                  <a:srgbClr val="475569"/>
                </a:solidFill>
              </a:defRPr>
            </a:pPr>
            <a:r>
              <a:t>Monitors deployed online endpoints in real time, capturing request rates, latency, and error traces.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Azure ML Workspace: Asset Anatomy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 unified control plane organized into three functional operational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🛠️ Authoring Plane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Notebooks</a:t>
            </a:r>
            <a:br/>
            <a:r>
              <a:t>  Interactive cloud Jupyter development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Automated ML</a:t>
            </a:r>
            <a:br/>
            <a:r>
              <a:t>  No-code/low-code algorithm search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Designer</a:t>
            </a:r>
            <a:br/>
            <a:r>
              <a:t>  Visual drag-and-drop pipeline graph builder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📦 Asset Management Plane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Data Assets</a:t>
            </a:r>
            <a:br/>
            <a:r>
              <a:t>  Versioned datasets with lineage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Jobs &amp; Pipelines</a:t>
            </a:r>
            <a:br/>
            <a:r>
              <a:t>  MLflow-tracked execution DAGs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Environments</a:t>
            </a:r>
            <a:br/>
            <a:r>
              <a:t>  Reproducible Conda + Docker specs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Model Registry</a:t>
            </a:r>
            <a:br/>
            <a:r>
              <a:t>  Versioned models with stage gates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⚙️ Management &amp; Serving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Compute Targets</a:t>
            </a:r>
            <a:br/>
            <a:r>
              <a:t>  Instances, clusters, and serverless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Online Endpoints</a:t>
            </a:r>
            <a:br/>
            <a:r>
              <a:t>  Low-latency REST APIs (Blue/Green)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Batch Endpoints</a:t>
            </a:r>
            <a:br/>
            <a:r>
              <a:t>  Asynchronous bulk scoring engines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RBAC &amp; Security</a:t>
            </a:r>
            <a:br/>
            <a:r>
              <a:t>  Enterprise access control &amp; VNet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COMPUTE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Azure ML Compute Engines &amp; Cost Strategies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Selecting the right compute target to maximize throughput and eliminate idle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Compute Instance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Scaling:</a:t>
            </a:r>
            <a:br/>
            <a:r>
              <a:t>Single dedicated VM (1 node)</a:t>
            </a:r>
            <a:br/>
            <a:br/>
            <a:r>
              <a:t>Billing Model:</a:t>
            </a:r>
            <a:br/>
            <a:r>
              <a:t>Billed 100% while Running</a:t>
            </a:r>
            <a:br/>
            <a:br/>
            <a:r>
              <a:t>Best For:</a:t>
            </a:r>
            <a:br/>
            <a:r>
              <a:t>Interactive EDA &amp; debugging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Compute Cluster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Scaling:</a:t>
            </a:r>
            <a:br/>
            <a:r>
              <a:t>Auto-scales 0 → N nodes</a:t>
            </a:r>
            <a:br/>
            <a:br/>
            <a:r>
              <a:t>Billing Model:</a:t>
            </a:r>
            <a:br/>
            <a:r>
              <a:t>ONLY during active training</a:t>
            </a:r>
            <a:br/>
            <a:br/>
            <a:r>
              <a:t>Best For:</a:t>
            </a:r>
            <a:br/>
            <a:r>
              <a:t>Production training &amp; sweeps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8D4"/>
                </a:solidFill>
              </a:defRPr>
            </a:pPr>
            <a:r>
              <a:t>Serverless Compute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Scaling:</a:t>
            </a:r>
            <a:br/>
            <a:r>
              <a:t>Managed dynamic execution</a:t>
            </a:r>
            <a:br/>
            <a:br/>
            <a:r>
              <a:t>Billing Model:</a:t>
            </a:r>
            <a:br/>
            <a:r>
              <a:t>Billed per second of job</a:t>
            </a:r>
            <a:br/>
            <a:br/>
            <a:r>
              <a:t>Best For:</a:t>
            </a:r>
            <a:br/>
            <a:r>
              <a:t>Ad-hoc jobs with zero 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63040"/>
            <a:ext cx="256032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Managed Endpoint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Scaling:</a:t>
            </a:r>
            <a:br/>
            <a:r>
              <a:t>Auto-scales on traffic (QPS)</a:t>
            </a:r>
            <a:br/>
            <a:br/>
            <a:r>
              <a:t>Billing Model:</a:t>
            </a:r>
            <a:br/>
            <a:r>
              <a:t>Billed per active replica VM</a:t>
            </a:r>
            <a:br/>
            <a:br/>
            <a:r>
              <a:t>Best For:</a:t>
            </a:r>
            <a:br/>
            <a:r>
              <a:t>Real-time low-latency 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698480" cy="9144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2400E"/>
                </a:solidFill>
              </a:defRPr>
            </a:pPr>
            <a:r>
              <a:t>💡 Cost Optimization Golden Rule: Auto-Scale to Zero (min_instances = 0)</a:t>
            </a:r>
          </a:p>
          <a:p>
            <a:pPr>
              <a:defRPr sz="1100">
                <a:solidFill>
                  <a:srgbClr val="78350F"/>
                </a:solidFill>
              </a:defRPr>
            </a:pPr>
            <a:r>
              <a:t>Set min_instances = 0 and idle_time_before_scale_down = 120s on training clusters. Pay $0.00 when jobs finish!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Datastores vs. Data Assets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Connecting to cloud data sources and creating versioned, reproducible dataset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78D4"/>
                </a:solidFill>
              </a:defRPr>
            </a:pPr>
            <a:r>
              <a:t>Datastore (Storage Connection)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Defines secure authentication connection to storage services (Blob, ADLS Gen2, SQL).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Encapsulates credentials (SAS token, Service Principal) without exposing them in code.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Default workspace datastore: workspaceblobstore (automatically mounted).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Data Asset (Versioned Snapshot)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A versioned, metadata-rich pointer to specific files/folders within a datastore.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Guarantees exact training reproducibility: Model trained on Dataset v2 can always be audited.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Supports tabular (pandas/parquet) and file/folder asset formats with lineage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Reproducible Environments with Azure ML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Decoupling execution environments from compute hardware using Docker + Conda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1. Curated Environments  —  Pre-built by Microsoft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Pre-packaged Docker images containing PyTorch, TensorFlow, Scikit-learn, and CUDA drivers. Zero build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1371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2. Custom Conda Environments  —  Conda YAML over Base OS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Specify your custom Python libraries (requirements.txt / conda.yaml) layered over a lightweight Ubuntu base image.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698480" cy="13716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3. Custom Docker Images  —  Full OS &amp; C++ Control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Provide a custom Dockerfile with proprietary system libraries. Azure builds and caches the image in Azure Container Registry (ACR).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Model Registry &amp; MLflow Integration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Tracking experiments and transitioning models across governance lifecycle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8D4"/>
                </a:solidFill>
              </a:defRPr>
            </a:pPr>
            <a:r>
              <a:t>1. Experiment Run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MLflow autologging tracks parameters, loss curves, confusion matrices, and artifacts.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2. Registration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Top performing model is registered with version tag (e.g., fama_risk_model:v3).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3. Staging Gate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Automated validation tests data drift, fairness metrics, and latency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4. Production Serving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Model is promoted to Production stage and deployed to Managed Online Endpoint.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MODEL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Inference Endpoints: Online vs. Batch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Exposing models for real-time predictions or scalable asynchronous bulk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78D4"/>
                </a:solidFill>
              </a:defRPr>
            </a:pPr>
            <a:r>
              <a:t>Managed Online Endpoints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Use Case: Real-time, low-latency REST APIs for web apps, mobile clients, and microservices.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Deployment: Fully managed infrastructure with auto-scaling based on CPU or Request queue.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Traffic Splitting: Safe Blue/Green deployments (e.g. 90% traffic to v1, 10% canary to v2).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Security: Secured via Key authentication, Azure AD tokens, and VNet private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Batch Endpoints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Use Case: Asynchronous, high-throughput batch scoring over millions of historical records.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Compute Elasticity: Automatically spins up compute nodes upon trigger, executes, and scales to 0.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Cost Efficiency: Zero idle cost. Pay only for the exact compute time taken to score the dataset.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Output Routing: Results automatically written to Azure Blob Storage, SQL, or Lakehouse.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SDK V2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Connecting via Azure ML Python SDK v2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Clean, object-oriented resource management and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8BDF8"/>
                </a:solidFill>
                <a:latin typeface="Courier New"/>
              </a:defRPr>
            </a:pPr>
            <a:r>
              <a:t>from azure.ai.ml import MLClient</a:t>
            </a:r>
            <a:br/>
            <a:r>
              <a:t>from azure.identity import DefaultAzureCredential</a:t>
            </a:r>
            <a:br/>
            <a:r>
              <a:t>from azure.ai.ml.entities import AmlCompute</a:t>
            </a:r>
            <a:br/>
            <a:br/>
            <a:r>
              <a:t># 1. Authenticate (Env Vars -&gt; Managed Identity -&gt; Azure CLI -&gt; Browser)</a:t>
            </a:r>
            <a:br/>
            <a:r>
              <a:t>credential = DefaultAzureCredential()</a:t>
            </a:r>
            <a:br/>
            <a:br/>
            <a:r>
              <a:t># 2. Connect to Azure ML Workspace</a:t>
            </a:r>
            <a:br/>
            <a:r>
              <a:t>ml_client = MLClient(</a:t>
            </a:r>
            <a:br/>
            <a:r>
              <a:t>    credential=credential,</a:t>
            </a:r>
            <a:br/>
            <a:r>
              <a:t>    subscription_id="sub-fama-prod-001",</a:t>
            </a:r>
            <a:br/>
            <a:r>
              <a:t>    resource_group_name="rg-fama-mlops-eastus",</a:t>
            </a:r>
            <a:br/>
            <a:r>
              <a:t>    workspace_name="aml-fama-workspace"</a:t>
            </a:r>
            <a:br/>
            <a:r>
              <a:t>)</a:t>
            </a:r>
            <a:br/>
            <a:r>
              <a:t>print(f"Connected to: {ml_client.workspace_name}")</a:t>
            </a:r>
            <a:br/>
            <a:br/>
            <a:r>
              <a:t># 3. Define Auto-Scaling Training Compute (0 -&gt; 4 nodes)</a:t>
            </a:r>
            <a:br/>
            <a:r>
              <a:t>cpu_cluster = AmlCompute(</a:t>
            </a:r>
            <a:br/>
            <a:r>
              <a:t>    name="cpu-cluster-train",</a:t>
            </a:r>
            <a:br/>
            <a:r>
              <a:t>    type="amlcompute",</a:t>
            </a:r>
            <a:br/>
            <a:r>
              <a:t>    size="Standard_DS12_v2",</a:t>
            </a:r>
            <a:br/>
            <a:r>
              <a:t>    min_instances=0,      # Scale to 0 when idle = $0.00 cost</a:t>
            </a:r>
            <a:br/>
            <a:r>
              <a:t>    max_instances=4,</a:t>
            </a:r>
            <a:br/>
            <a:r>
              <a:t>    idle_time_before_scale_down=120</a:t>
            </a:r>
            <a:br/>
            <a:r>
              <a:t>)</a:t>
            </a:r>
            <a:br/>
            <a:r>
              <a:t>ml_client.compute.begin_create_or_update(cpu_cluster)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On-Premise vs. Azure Machine Learning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Direct operational and financial capability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86200"/>
                <a:gridCol w="3886200"/>
              </a:tblGrid>
              <a:tr h="762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Operational 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On-Premise Infrastructure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Azure ML Enterprise 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Compute Provisioning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Weeks to procure &amp; configure physical servers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Minutes to spin up multi-node GPU clusters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Scaling &amp; Utilization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Fixed capacity; servers sit idle overnight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Elastic auto-scale to zero (min_instances = 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Experiment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Manual spreadsheets or self-hosted servers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Native MLflow autologging &amp; model lineage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Deployment &amp; Serving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Complex manual Docker &amp; NGINX setups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Managed Online Endpoints with Blue/Green routing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Cost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CAPEX (large upfront hardware expenditure)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OPEX (pay-per-second only while jobs run)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78D4"/>
                </a:solidFill>
              </a:defRPr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Takeaways: Navigating Azure for MLOps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Core principles for building scalable, cost-effective cloud AI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Topic 09 — Azure Fundamentals &amp; Azure ML Workspace</a:t>
            </a:r>
          </a:p>
          <a:p>
            <a:pPr algn="r">
              <a:defRPr sz="1000">
                <a:solidFill>
                  <a:srgbClr val="94A3B8"/>
                </a:solidFill>
              </a:defRPr>
            </a:pPr>
            <a:r>
              <a:t>Slide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8D4"/>
                </a:solidFill>
              </a:defRPr>
            </a:pPr>
            <a:r>
              <a:t>1. Workspace is the Single Pane of Glass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Centralizes compute, datasets, experiment tracking, and model versions for complete traceability.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2. Scale-to-Zero is Mandatory for Cost Governance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Always set min_instances = 0 on training clusters so compute charges stop the moment jobs 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3. Leverage Companion Services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Blob Storage holds data, Key Vault secures credentials, ACR stores containers, and App Insights monitors traffic.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4. Standardize on SDK v2 &amp; Declarative YAML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Use modern SDK v2 entities compatible with MLOps CI/CD pipelines (GitHub Actions / Azure DevOps).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