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828800"/>
            <a:ext cx="5852160" cy="5852160"/>
          </a:xfrm>
          <a:prstGeom prst="ellipse">
            <a:avLst/>
          </a:prstGeom>
          <a:solidFill>
            <a:srgbClr val="0A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08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F2"/>
                </a:solidFill>
                <a:latin typeface="Helvetica"/>
              </a:rPr>
              <a:t>SESSION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8686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0F4FF"/>
                </a:solidFill>
                <a:latin typeface="Helvetica"/>
              </a:rPr>
              <a:t>Cloud Training Jobs &amp;
Experiment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DC8"/>
                </a:solidFill>
                <a:latin typeface="Helvetica"/>
              </a:rPr>
              <a:t>Azure ML SDK v2  |  MLflow  |  Sweep Jobs  |  Model Registry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886200"/>
            <a:ext cx="4572000" cy="228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DC8"/>
                </a:solidFill>
                <a:latin typeface="Helvetica"/>
              </a:rPr>
              <a:t>Day 2  |  11:00 AM – 12:00 PM  |  60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Helvetica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4FF"/>
                </a:solidFill>
                <a:latin typeface="Helvetica"/>
              </a:rPr>
              <a:t>What You'll Master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228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54864" cy="6217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508760"/>
            <a:ext cx="11155680" cy="6217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453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Helvetica"/>
              </a:rPr>
              <a:t>01  Submit Cloud Training 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DC8"/>
                </a:solidFill>
                <a:latin typeface="Helvetica"/>
              </a:rPr>
              <a:t>Run training scripts on Azure ML Compute Clusters using SDK v2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04872"/>
            <a:ext cx="54864" cy="62179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404872"/>
            <a:ext cx="11155680" cy="6217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441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F2"/>
                </a:solidFill>
                <a:latin typeface="Helvetica"/>
              </a:rPr>
              <a:t>02  Track with MLflow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2491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DC8"/>
                </a:solidFill>
                <a:latin typeface="Helvetica"/>
              </a:rPr>
              <a:t>Log params, metrics &amp; artifacts — autolog() or manual logging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300984"/>
            <a:ext cx="54864" cy="621792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3300984"/>
            <a:ext cx="11155680" cy="6217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7C41"/>
                </a:solidFill>
                <a:latin typeface="Helvetica"/>
              </a:rPr>
              <a:t>03  Cloud-Scale HPO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62102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DC8"/>
                </a:solidFill>
                <a:latin typeface="Helvetica"/>
              </a:rPr>
              <a:t>Sweep Jobs with Bayesian sampling + Bandit early termination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197096"/>
            <a:ext cx="54864" cy="621792"/>
          </a:xfrm>
          <a:prstGeom prst="rect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4197096"/>
            <a:ext cx="11155680" cy="6217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233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44DA9"/>
                </a:solidFill>
                <a:latin typeface="Helvetica"/>
              </a:rPr>
              <a:t>04  Compare Runs in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51713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DC8"/>
                </a:solidFill>
                <a:latin typeface="Helvetica"/>
              </a:rPr>
              <a:t>Select multiple runs → Compare view → parallel coordinates chart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093208"/>
            <a:ext cx="54864" cy="6217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5093208"/>
            <a:ext cx="11155680" cy="6217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1297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  <a:latin typeface="Helvetica"/>
              </a:rPr>
              <a:t>05  Register Best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4132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DC8"/>
                </a:solidFill>
                <a:latin typeface="Helvetica"/>
              </a:rPr>
              <a:t>Promote model: experiment → staging → production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4031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DC8"/>
                </a:solidFill>
                <a:latin typeface="Helvetic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Helvetica"/>
              </a:rPr>
              <a:t>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4FF"/>
                </a:solidFill>
                <a:latin typeface="Helvetica"/>
              </a:rPr>
              <a:t>Azure ML Job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228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2743200" cy="4434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274320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Helvetica"/>
              </a:rPr>
              <a:t>Command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Helvetica"/>
              </a:rPr>
              <a:t>Single-script training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2468880" cy="22860"/>
          </a:xfrm>
          <a:prstGeom prst="rect">
            <a:avLst/>
          </a:prstGeom>
          <a:solidFill>
            <a:srgbClr val="9AA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• Simple &amp; fast to 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72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• Wrap any Python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4845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• Submit from SDK or YAML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1508760"/>
            <a:ext cx="2743200" cy="4434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5848" y="1508760"/>
            <a:ext cx="2743200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1645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F2"/>
                </a:solidFill>
                <a:latin typeface="Helvetica"/>
              </a:rPr>
              <a:t>Sweep 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Helvetica"/>
              </a:rPr>
              <a:t>Hyperparameter optimization at 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008" y="2560320"/>
            <a:ext cx="2468880" cy="22860"/>
          </a:xfrm>
          <a:prstGeom prst="rect">
            <a:avLst/>
          </a:prstGeom>
          <a:solidFill>
            <a:srgbClr val="9AA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2697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• 30+ parallel trials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3172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• Bayesian or random sampling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364845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• Bandit early termination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0216" y="1508760"/>
            <a:ext cx="2743200" cy="4434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0216" y="1508760"/>
            <a:ext cx="2743200" cy="73152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1645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7C41"/>
                </a:solidFill>
                <a:latin typeface="Helvetica"/>
              </a:rPr>
              <a:t>Pipeline Job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Helvetica"/>
              </a:rPr>
              <a:t>Multi-step ML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37376" y="2560320"/>
            <a:ext cx="2468880" cy="22860"/>
          </a:xfrm>
          <a:prstGeom prst="rect">
            <a:avLst/>
          </a:prstGeom>
          <a:solidFill>
            <a:srgbClr val="9AA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2697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• DAG of reusable components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3172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• Data prep → train → 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364845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• Cacheable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44584" y="1508760"/>
            <a:ext cx="2743200" cy="4434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44584" y="1508760"/>
            <a:ext cx="274320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81744" y="1645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00"/>
                </a:solidFill>
                <a:latin typeface="Helvetica"/>
              </a:rPr>
              <a:t>AutoML Job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1744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F"/>
                </a:solidFill>
                <a:latin typeface="Helvetica"/>
              </a:rPr>
              <a:t>Automated model selection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81744" y="2560320"/>
            <a:ext cx="2468880" cy="22860"/>
          </a:xfrm>
          <a:prstGeom prst="rect">
            <a:avLst/>
          </a:prstGeom>
          <a:solidFill>
            <a:srgbClr val="9AA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1744" y="2697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• No-code experimentation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3172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• Azure chooses algorithm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81744" y="364845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• Benchmark quickly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4031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DC8"/>
                </a:solidFill>
                <a:latin typeface="Helvetic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Helvetica"/>
              </a:rPr>
              <a:t>JOB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4FF"/>
                </a:solidFill>
                <a:latin typeface="Helvetica"/>
              </a:rPr>
              <a:t>From SDK to Cloud Compute — 8-Stage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228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828800"/>
            <a:ext cx="123444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828800"/>
            <a:ext cx="12344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938528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25420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78D4"/>
                </a:solidFill>
                <a:latin typeface="Helvetica"/>
              </a:rPr>
              <a:t>Define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090672"/>
            <a:ext cx="1143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DC8"/>
                </a:solidFill>
                <a:latin typeface="Helvetica"/>
              </a:rPr>
              <a:t>SDK v2 / 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278892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78D4"/>
                </a:solidFill>
                <a:latin typeface="Helvetica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1828800"/>
            <a:ext cx="123444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83080" y="1828800"/>
            <a:ext cx="1234440" cy="54864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7128" y="1938528"/>
            <a:ext cx="475488" cy="475488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67128" y="19385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6232" y="25420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BCF2"/>
                </a:solidFill>
                <a:latin typeface="Helvetica"/>
              </a:rPr>
              <a:t>Upload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090672"/>
            <a:ext cx="1143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DC8"/>
                </a:solidFill>
                <a:latin typeface="Helvetica"/>
              </a:rPr>
              <a:t>Snapshot → Blob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278892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78D4"/>
                </a:solidFill>
                <a:latin typeface="Helvetica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18688" y="1828800"/>
            <a:ext cx="123444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18688" y="1828800"/>
            <a:ext cx="1234440" cy="54864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02736" y="1938528"/>
            <a:ext cx="475488" cy="475488"/>
          </a:xfrm>
          <a:prstGeom prst="ellipse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2736" y="19385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5420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07C41"/>
                </a:solidFill>
                <a:latin typeface="Helvetica"/>
              </a:rPr>
              <a:t>Provision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64408" y="3090672"/>
            <a:ext cx="1143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DC8"/>
                </a:solidFill>
                <a:latin typeface="Helvetica"/>
              </a:rPr>
              <a:t>Cluster auto-scales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9704" y="278892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78D4"/>
                </a:solidFill>
                <a:latin typeface="Helvetica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54296" y="1828800"/>
            <a:ext cx="123444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54296" y="1828800"/>
            <a:ext cx="1234440" cy="54864"/>
          </a:xfrm>
          <a:prstGeom prst="rect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38344" y="1938528"/>
            <a:ext cx="475488" cy="475488"/>
          </a:xfrm>
          <a:prstGeom prst="ellipse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38344" y="19385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7448" y="25420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744DA9"/>
                </a:solidFill>
                <a:latin typeface="Helvetica"/>
              </a:rPr>
              <a:t>Pull Env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3090672"/>
            <a:ext cx="1143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DC8"/>
                </a:solidFill>
                <a:latin typeface="Helvetica"/>
              </a:rPr>
              <a:t>Docker ← ACR cache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25312" y="278892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78D4"/>
                </a:solidFill>
                <a:latin typeface="Helvetica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9904" y="1828800"/>
            <a:ext cx="123444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9904" y="1828800"/>
            <a:ext cx="12344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73952" y="1938528"/>
            <a:ext cx="475488" cy="475488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19385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3056" y="25420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8C00"/>
                </a:solidFill>
                <a:latin typeface="Helvetica"/>
              </a:rPr>
              <a:t>Execute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5624" y="3090672"/>
            <a:ext cx="1143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DC8"/>
                </a:solidFill>
                <a:latin typeface="Helvetica"/>
              </a:rPr>
              <a:t>train.py runs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278892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78D4"/>
                </a:solidFill>
                <a:latin typeface="Helvetica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828800"/>
            <a:ext cx="123444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25512" y="1828800"/>
            <a:ext cx="1234440" cy="54864"/>
          </a:xfrm>
          <a:prstGeom prst="rect">
            <a:avLst/>
          </a:prstGeom>
          <a:solidFill>
            <a:srgbClr val="C23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909560" y="1938528"/>
            <a:ext cx="475488" cy="475488"/>
          </a:xfrm>
          <a:prstGeom prst="ellipse">
            <a:avLst/>
          </a:prstGeom>
          <a:solidFill>
            <a:srgbClr val="C23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19385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98664" y="25420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C239B3"/>
                </a:solidFill>
                <a:latin typeface="Helvetica"/>
              </a:rPr>
              <a:t>Log MLflow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71232" y="3090672"/>
            <a:ext cx="1143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DC8"/>
                </a:solidFill>
                <a:latin typeface="Helvetica"/>
              </a:rPr>
              <a:t>params + metrics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96528" y="278892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78D4"/>
                </a:solidFill>
                <a:latin typeface="Helvetica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61120" y="1828800"/>
            <a:ext cx="123444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61120" y="1828800"/>
            <a:ext cx="1234440" cy="54864"/>
          </a:xfrm>
          <a:prstGeom prst="rect">
            <a:avLst/>
          </a:prstGeom>
          <a:solidFill>
            <a:srgbClr val="E7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45168" y="1938528"/>
            <a:ext cx="475488" cy="475488"/>
          </a:xfrm>
          <a:prstGeom prst="ellipse">
            <a:avLst/>
          </a:prstGeom>
          <a:solidFill>
            <a:srgbClr val="E7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45168" y="19385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34272" y="25420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E74856"/>
                </a:solidFill>
                <a:latin typeface="Helvetica"/>
              </a:rPr>
              <a:t>Save Outputs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3090672"/>
            <a:ext cx="1143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DC8"/>
                </a:solidFill>
                <a:latin typeface="Helvetica"/>
              </a:rPr>
              <a:t>model → Blob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32136" y="278892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78D4"/>
                </a:solidFill>
                <a:latin typeface="Helvetica"/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96728" y="1828800"/>
            <a:ext cx="123444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396728" y="1828800"/>
            <a:ext cx="12344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780776" y="1938528"/>
            <a:ext cx="475488" cy="475488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80776" y="19385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69880" y="25420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8C00"/>
                </a:solidFill>
                <a:latin typeface="Helvetica"/>
              </a:rPr>
              <a:t>Register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42448" y="3090672"/>
            <a:ext cx="1143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DC8"/>
                </a:solidFill>
                <a:latin typeface="Helvetica"/>
              </a:rPr>
              <a:t>Model Registry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64031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DC8"/>
                </a:solidFill>
                <a:latin typeface="Helvetic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Helvetica"/>
              </a:rPr>
              <a:t>COMMAND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4FF"/>
                </a:solidFill>
                <a:latin typeface="Helvetica"/>
              </a:rPr>
              <a:t>Submitting a Training Job — SDK v2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228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6858000" cy="507492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BCF2"/>
                </a:solidFill>
                <a:latin typeface="Helvetica"/>
              </a:rPr>
              <a:t>from azure.ai.ml import MLClient, command,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BCF2"/>
                </a:solidFill>
                <a:latin typeface="Helvetica"/>
              </a:rPr>
              <a:t>from azure.identity import DefaultAzureCredential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6654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Helvetica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2257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Helvetica"/>
              </a:rPr>
              <a:t>ml_client = MLClient(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7860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    DefaultAzureCredential(),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    subscription_id, resource_group,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9067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Helvetica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4670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Helvetica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0273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Helvetica"/>
              </a:rPr>
              <a:t>job = command(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5876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    code='./scripts',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11480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    command='python train.py --lr 0.05',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7083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7C41"/>
                </a:solidFill>
                <a:latin typeface="Helvetica"/>
              </a:rPr>
              <a:t>    environment='azureml:credit-model-env:1',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2686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8C00"/>
                </a:solidFill>
                <a:latin typeface="Helvetica"/>
              </a:rPr>
              <a:t>    compute='cpu-cluster',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8289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    experiment_name='credit-default-model',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13892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    tags={'framework': 'sklearn'}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9496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Helvetica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5099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Helvetica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90702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BCF2"/>
                </a:solidFill>
                <a:latin typeface="Helvetica"/>
              </a:rPr>
              <a:t>returned_job = ml_client.jobs.create_or_update(job)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163056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78D4"/>
                </a:solidFill>
                <a:latin typeface="Helvetica"/>
              </a:rPr>
              <a:t>print('Studio URL:', returned_job.studio_url)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1463040"/>
            <a:ext cx="4343400" cy="50749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16002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F2"/>
                </a:solidFill>
                <a:latin typeface="Helvetica"/>
              </a:rPr>
              <a:t>Key Parameters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2057400"/>
            <a:ext cx="4023360" cy="2286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43800" y="2240280"/>
            <a:ext cx="54864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22402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8C00"/>
                </a:solidFill>
                <a:latin typeface="Helvetica"/>
              </a:rPr>
              <a:t>compute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25603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Target cluster name
(auto-scales 0 → N nodes)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3264408"/>
            <a:ext cx="54864" cy="82296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32644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07C41"/>
                </a:solidFill>
                <a:latin typeface="Helvetica"/>
              </a:rPr>
              <a:t>environment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5844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Versioned Docker env
(cached in ACR)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4288536"/>
            <a:ext cx="54864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42885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78D4"/>
                </a:solidFill>
                <a:latin typeface="Helvetica"/>
              </a:rPr>
              <a:t>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60857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Local folder snapshot
uploaded to Blob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5312664"/>
            <a:ext cx="54864" cy="822960"/>
          </a:xfrm>
          <a:prstGeom prst="rect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531266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744DA9"/>
                </a:solidFill>
                <a:latin typeface="Helvetica"/>
              </a:rPr>
              <a:t>experiment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563270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Groups related runs
in Studio dashboard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4031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DC8"/>
                </a:solidFill>
                <a:latin typeface="Helvetic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Helvetica"/>
              </a:rPr>
              <a:t>MLFLOW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4FF"/>
                </a:solidFill>
                <a:latin typeface="Helvetica"/>
              </a:rPr>
              <a:t>Experiment Tracking — Auto vs. Manual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22860"/>
          </a:xfrm>
          <a:prstGeom prst="rect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486400" cy="507492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5486400" cy="5029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F2"/>
                </a:solidFill>
                <a:latin typeface="Helvetica"/>
              </a:rPr>
              <a:t>mlflow.autolog()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>One line captures everything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0370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F2"/>
                </a:solidFill>
                <a:latin typeface="Helvetica"/>
              </a:rPr>
              <a:t>import mlflow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791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F2"/>
                </a:solidFill>
                <a:latin typeface="Helvetica"/>
              </a:rPr>
              <a:t>mlflow.autolog()  # done!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169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546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>Auto-captures: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924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• All __init__ 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30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• Training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679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• Feature importances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056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• Fitted model 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811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>Works with: sklearn, XGBoost,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188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>PyTorch, TensorFlow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463040"/>
            <a:ext cx="5486400" cy="507492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63040"/>
            <a:ext cx="5486400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5361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  <a:latin typeface="Helvetica"/>
              </a:rPr>
              <a:t>Manual mlflow.log_*()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9659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>Fine-grained per-metric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20370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4414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F2"/>
                </a:solidFill>
                <a:latin typeface="Helvetica"/>
              </a:rPr>
              <a:t>with mlflow.start_run():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6791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mlflow.log_param('lr', lr)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9169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mlflow.log_metric(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1546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    'val_auc', val_auc,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3924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    step=epoch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630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679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mlflow.log_figure(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1056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    fig, 'confusion.png'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434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5811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mlflow.sklearn.log_model(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8188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    model, 'model')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400800"/>
            <a:ext cx="5486400" cy="29260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Helvetica"/>
              </a:rPr>
              <a:t>Best for: Quick experiments &amp; benchmarks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6400800"/>
            <a:ext cx="5486400" cy="2926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64008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Helvetica"/>
              </a:rPr>
              <a:t>Best for: Production pipelines &amp; custom metrics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4031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DC8"/>
                </a:solidFill>
                <a:latin typeface="Helvetic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Helvetica"/>
              </a:rPr>
              <a:t>SWEEP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4FF"/>
                </a:solidFill>
                <a:latin typeface="Helvetica"/>
              </a:rPr>
              <a:t>Cloud-Scale Hyperparameter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2286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6583680" cy="507492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F2"/>
                </a:solidFill>
                <a:latin typeface="Helvetica"/>
              </a:rPr>
              <a:t>from azure.ai.ml.sweep import Choice, Uniform, BanditPolicy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1508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>sweep_job = command_job.sweep(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9971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7C41"/>
                </a:solidFill>
                <a:latin typeface="Helvetica"/>
              </a:rPr>
              <a:t>    sampling_algorithm='bayesian',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4203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00"/>
                </a:solidFill>
                <a:latin typeface="Helvetica"/>
              </a:rPr>
              <a:t>    primary_metric='val_auc',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434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00"/>
                </a:solidFill>
                <a:latin typeface="Helvetica"/>
              </a:rPr>
              <a:t>    goal='Maximize',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2666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>    search_space={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6898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      'learning_rate': Uniform(0.001, 0.1),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1129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      'max_depth':     Choice([3, 5, 7, 10]),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5361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      'n_estimators':  Choice([100, 200, 300, 500])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9592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>    },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3824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>    limits={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00"/>
                </a:solidFill>
                <a:latin typeface="Helvetica"/>
              </a:rPr>
              <a:t>        'max_total_trials': 30,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2287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00"/>
                </a:solidFill>
                <a:latin typeface="Helvetica"/>
              </a:rPr>
              <a:t>        'max_concurrent_trials': 5,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651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      'timeout': 7200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0750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>    },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4982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44DA9"/>
                </a:solidFill>
                <a:latin typeface="Helvetica"/>
              </a:rPr>
              <a:t>    early_termination_policy=BanditPolicy(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9214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      slack_factor=0.1,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3445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      evaluation_interval=1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7677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44DA9"/>
                </a:solidFill>
                <a:latin typeface="Helvetica"/>
              </a:rPr>
              <a:t>    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>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1463040"/>
            <a:ext cx="4617720" cy="50749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600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7C41"/>
                </a:solidFill>
                <a:latin typeface="Helvetica"/>
              </a:rPr>
              <a:t>Sampling Algorithms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2011680"/>
            <a:ext cx="4297680" cy="2286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ADC8"/>
                </a:solidFill>
                <a:latin typeface="Helvetica"/>
              </a:rPr>
              <a:t>Random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4963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No learning
between trials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1240" y="2240280"/>
            <a:ext cx="16916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22402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Helvetica"/>
              </a:rPr>
              <a:t>Baseline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154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ADC8"/>
                </a:solidFill>
                <a:latin typeface="Helvetica"/>
              </a:rPr>
              <a:t>Grid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350215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All combos;
exhaustive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40" y="3246120"/>
            <a:ext cx="16916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66960" y="32461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Helvetica"/>
              </a:rPr>
              <a:t>Small spaces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7C41"/>
                </a:solidFill>
                <a:latin typeface="Helvetica"/>
              </a:rPr>
              <a:t>Bayesian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450799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Learns from
prev trials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21240" y="4251960"/>
            <a:ext cx="1691640" cy="347472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66960" y="4251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"/>
              </a:rPr>
              <a:t>Best: 5x faster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8040" y="5166360"/>
            <a:ext cx="4617720" cy="1170432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52303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7C41"/>
                </a:solidFill>
                <a:latin typeface="Helvetica"/>
              </a:rPr>
              <a:t>Bandit Policy — Cost Control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57784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Kills trials &gt;10% behind the current best.
Saves up to 60% compute vs. running all trials to completion.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4031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DC8"/>
                </a:solidFill>
                <a:latin typeface="Helvetic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Helvetica"/>
              </a:rPr>
              <a:t>SWEEP VISUALISATION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4FF"/>
                </a:solidFill>
                <a:latin typeface="Helvetica"/>
              </a:rPr>
              <a:t>Reading the Parallel Coordinates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228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8046720" cy="4206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41080" y="1508760"/>
            <a:ext cx="3154680" cy="4206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645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Helvetica"/>
              </a:rPr>
              <a:t>How to Read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2057400"/>
            <a:ext cx="2834640" cy="228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0" y="2240280"/>
            <a:ext cx="54864" cy="65836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24028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Green lines = high val_auc
(good hyperparameter combos)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3081528"/>
            <a:ext cx="54864" cy="658368"/>
          </a:xfrm>
          <a:prstGeom prst="rect">
            <a:avLst/>
          </a:prstGeom>
          <a:solidFill>
            <a:srgbClr val="E7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308152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Red lines = poor trials
(terminated early by Bandit)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22776"/>
            <a:ext cx="54864" cy="65836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3922776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Steep angles show strong
param–metric correlations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4764024"/>
            <a:ext cx="54864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4764024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Cluster of green lines =
optimal search region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4031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DC8"/>
                </a:solidFill>
                <a:latin typeface="Helvetic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Helvetica"/>
              </a:rPr>
              <a:t>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4FF"/>
                </a:solidFill>
                <a:latin typeface="Helvetica"/>
              </a:rPr>
              <a:t>Reproducible Environments — Docker + Conda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2286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5852160" cy="292608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Helvetica"/>
              </a:rPr>
              <a:t>env = Environment(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    name='credit-model-env',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    version='1',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7C41"/>
                </a:solidFill>
                <a:latin typeface="Helvetica"/>
              </a:rPr>
              <a:t>    conda_file='environment.yml',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BCF2"/>
                </a:solidFill>
                <a:latin typeface="Helvetica"/>
              </a:rPr>
              <a:t>    image='mcr.microsoft.com/azureml/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BCF2"/>
                </a:solidFill>
                <a:latin typeface="Helvetica"/>
              </a:rPr>
              <a:t>        openmpi4.1.0-ubuntu20.04:latest'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Helvetica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8C00"/>
                </a:solidFill>
                <a:latin typeface="Helvetica"/>
              </a:rPr>
              <a:t>ml_client.environments.create_or_update(env)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572000"/>
            <a:ext cx="5852160" cy="1938528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# environment.yml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87468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>name: credit-model-env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1149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>dependencies: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3552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F2"/>
                </a:solidFill>
                <a:latin typeface="Helvetica"/>
              </a:rPr>
              <a:t>  - python=3.10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5955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Helvetica"/>
              </a:rPr>
              <a:t>  - pip: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83580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  - scikit-learn==1.3.0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007608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  - mlflow==2.7.0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3163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ADC8"/>
                </a:solidFill>
                <a:latin typeface="Helvetica"/>
              </a:rPr>
              <a:t>    - pandas==2.0.3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481328"/>
            <a:ext cx="5394960" cy="5029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6276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F2"/>
                </a:solidFill>
                <a:latin typeface="Helvetica"/>
              </a:rPr>
              <a:t>Environment Lifecycle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2057400"/>
            <a:ext cx="5120640" cy="2286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37960" y="2212848"/>
            <a:ext cx="54864" cy="65836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21284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BCF2"/>
                </a:solidFill>
                <a:latin typeface="Helvetica"/>
              </a:rPr>
              <a:t>1. Define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5146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Python SDK or conda YAML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3035808"/>
            <a:ext cx="54864" cy="65836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03580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07C41"/>
                </a:solidFill>
                <a:latin typeface="Helvetica"/>
              </a:rPr>
              <a:t>2. Register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3375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Stored in workspace registry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3858768"/>
            <a:ext cx="54864" cy="658368"/>
          </a:xfrm>
          <a:prstGeom prst="rect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85876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744DA9"/>
                </a:solidFill>
                <a:latin typeface="Helvetica"/>
              </a:rPr>
              <a:t>3. 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1605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Docker image built in ACR (~10 min first time)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4681728"/>
            <a:ext cx="54864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68172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8C00"/>
                </a:solidFill>
                <a:latin typeface="Helvetica"/>
              </a:rPr>
              <a:t>4. Cache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9834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Subsequent jobs pull from ACR (&lt;1 min)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5504688"/>
            <a:ext cx="54864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550468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78D4"/>
                </a:solidFill>
                <a:latin typeface="Helvetica"/>
              </a:rPr>
              <a:t>5. Audit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806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Every model links to exact env version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4031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DC8"/>
                </a:solidFill>
                <a:latin typeface="Helvetic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Helvetica"/>
              </a:rPr>
              <a:t>STUDIO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4FF"/>
                </a:solidFill>
                <a:latin typeface="Helvetica"/>
              </a:rPr>
              <a:t>Comparing Runs in Azure ML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22860"/>
          </a:xfrm>
          <a:prstGeom prst="rect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11384280" cy="438912"/>
          </a:xfrm>
          <a:prstGeom prst="rect">
            <a:avLst/>
          </a:prstGeom>
          <a:solidFill>
            <a:srgbClr val="0E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270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Azure ML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270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15270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CF2"/>
                </a:solidFill>
                <a:latin typeface="Helvetica"/>
              </a:rPr>
              <a:t>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15270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15270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00"/>
                </a:solidFill>
                <a:latin typeface="Helvetica"/>
              </a:rPr>
              <a:t>credit-default-model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15270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15270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CF2"/>
                </a:solidFill>
                <a:latin typeface="Helvetica"/>
              </a:rPr>
              <a:t>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15270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15270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7C41"/>
                </a:solidFill>
                <a:latin typeface="Helvetica"/>
              </a:rPr>
              <a:t>Compare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103120"/>
            <a:ext cx="3611880" cy="17830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103120"/>
            <a:ext cx="3611880" cy="502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208" y="2240280"/>
            <a:ext cx="384048" cy="38404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22402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26771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78D4"/>
                </a:solidFill>
                <a:latin typeface="Helvetica"/>
              </a:rPr>
              <a:t>Navigate to Jobs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" y="26974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Studio home → Jobs (left sidebar)
Select your experiment: 'credit-default-model'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103120"/>
            <a:ext cx="3611880" cy="17830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2103120"/>
            <a:ext cx="3611880" cy="5029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53128" y="2240280"/>
            <a:ext cx="384048" cy="384048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8" y="22402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26771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BCF2"/>
                </a:solidFill>
                <a:latin typeface="Helvetica"/>
              </a:rPr>
              <a:t>Select Multiple Runs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26974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Ctrl+Click 3 or more runs in the table
Runs are sortable by any column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2103120"/>
            <a:ext cx="3611880" cy="17830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19" y="2103120"/>
            <a:ext cx="3611880" cy="50292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85047" y="2240280"/>
            <a:ext cx="384048" cy="384048"/>
          </a:xfrm>
          <a:prstGeom prst="ellipse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7" y="22402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79" y="226771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07C41"/>
                </a:solidFill>
                <a:latin typeface="Helvetica"/>
              </a:rPr>
              <a:t>Click Compare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5" y="26974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Top toolbar → Compare button
Opens side-by-side metric 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251960"/>
            <a:ext cx="3611880" cy="17830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4251960"/>
            <a:ext cx="3611880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1208" y="4389120"/>
            <a:ext cx="384048" cy="384048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" y="43891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4165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8C00"/>
                </a:solidFill>
                <a:latin typeface="Helvetica"/>
              </a:rPr>
              <a:t>Parallel Coordinates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" y="48463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Switch to 'Parallel Coordinates' tab
Color = primary metric (val_auc)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3400" y="4251960"/>
            <a:ext cx="3611880" cy="17830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4251960"/>
            <a:ext cx="3611880" cy="50292"/>
          </a:xfrm>
          <a:prstGeom prst="rect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53128" y="4389120"/>
            <a:ext cx="384048" cy="384048"/>
          </a:xfrm>
          <a:prstGeom prst="ellipse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53128" y="43891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44165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744DA9"/>
                </a:solidFill>
                <a:latin typeface="Helvetica"/>
              </a:rPr>
              <a:t>Promote Best Run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71416" y="48463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Right-click best run → Register Model
Directly promotes to Model Registry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4031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DC8"/>
                </a:solidFill>
                <a:latin typeface="Helvetic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Helvetica"/>
              </a:rPr>
              <a:t>MODEL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4FF"/>
                </a:solidFill>
                <a:latin typeface="Helvetica"/>
              </a:rPr>
              <a:t>Model Registry — Versioning &amp; Promotion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228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874519"/>
            <a:ext cx="196596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874519"/>
            <a:ext cx="1965960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2029968"/>
            <a:ext cx="17465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8D4"/>
                </a:solidFill>
                <a:latin typeface="Helvetica"/>
              </a:rPr>
              <a:t>Experiment
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2743200"/>
            <a:ext cx="1746504" cy="228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2852928"/>
            <a:ext cx="17465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9AADC8"/>
                </a:solidFill>
                <a:latin typeface="Helvetica"/>
              </a:rPr>
              <a:t>Raw MLflow run
No registry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8296" y="274320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8D4"/>
                </a:solidFill>
                <a:latin typeface="Helvetica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874519"/>
            <a:ext cx="196596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4600" y="1874519"/>
            <a:ext cx="1965960" cy="6400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4328" y="2029968"/>
            <a:ext cx="17465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CF2"/>
                </a:solidFill>
                <a:latin typeface="Helvetica"/>
              </a:rPr>
              <a:t>Registered
(None)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4328" y="2743200"/>
            <a:ext cx="1746504" cy="2286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4328" y="2852928"/>
            <a:ext cx="17465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9AADC8"/>
                </a:solidFill>
                <a:latin typeface="Helvetica"/>
              </a:rPr>
              <a:t>Name + version assigned
Full lineage stored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74320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8D4"/>
                </a:solidFill>
                <a:latin typeface="Helvetica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45152" y="1874519"/>
            <a:ext cx="196596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45152" y="1874519"/>
            <a:ext cx="1965960" cy="6400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2029968"/>
            <a:ext cx="17465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7C41"/>
                </a:solidFill>
                <a:latin typeface="Helvetica"/>
              </a:rPr>
              <a:t>Staging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743200"/>
            <a:ext cx="1746504" cy="2286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852928"/>
            <a:ext cx="17465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9AADC8"/>
                </a:solidFill>
                <a:latin typeface="Helvetica"/>
              </a:rPr>
              <a:t>Undergoing QA/testing
CI/CD validation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74320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8D4"/>
                </a:solidFill>
                <a:latin typeface="Helvetica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75704" y="1874519"/>
            <a:ext cx="196596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75704" y="1874519"/>
            <a:ext cx="196596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85432" y="2029968"/>
            <a:ext cx="17465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8C00"/>
                </a:solidFill>
                <a:latin typeface="Helvetica"/>
              </a:rPr>
              <a:t>Production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85432" y="2743200"/>
            <a:ext cx="1746504" cy="228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2" y="2852928"/>
            <a:ext cx="17465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9AADC8"/>
                </a:solidFill>
                <a:latin typeface="Helvetica"/>
              </a:rPr>
              <a:t>Live serving traffic
Champion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9952" y="274320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8D4"/>
                </a:solidFill>
                <a:latin typeface="Helvetica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06256" y="1874519"/>
            <a:ext cx="196596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06256" y="1874519"/>
            <a:ext cx="1965960" cy="64008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15984" y="2029968"/>
            <a:ext cx="17465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05050"/>
                </a:solidFill>
                <a:latin typeface="Helvetica"/>
              </a:rPr>
              <a:t>Archived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15984" y="2743200"/>
            <a:ext cx="1746504" cy="2286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15984" y="2852928"/>
            <a:ext cx="17465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9AADC8"/>
                </a:solidFill>
                <a:latin typeface="Helvetica"/>
              </a:rPr>
              <a:t>Deprecated
Kept for audit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315968"/>
            <a:ext cx="11384280" cy="224028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4074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Helvetica"/>
              </a:rPr>
              <a:t>model = Model(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654296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    path=f'azureml://jobs/{job_name}/outputs/model',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90118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8C00"/>
                </a:solidFill>
                <a:latin typeface="Helvetica"/>
              </a:rPr>
              <a:t>    name='credit-default-classifier',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14807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BCF2"/>
                </a:solidFill>
                <a:latin typeface="Helvetica"/>
              </a:rPr>
              <a:t>    type=AssetTypes.MLFLOW_MODEL,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39496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    tags={'val_auc': '0.923', 'framework': 'sklearn', 'session': '10'}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6418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F"/>
                </a:solidFill>
                <a:latin typeface="Helvetica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888736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7C41"/>
                </a:solidFill>
                <a:latin typeface="Helvetica"/>
              </a:rPr>
              <a:t>registered = ml_client.models.create_or_update(model)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13562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AADC8"/>
                </a:solidFill>
                <a:latin typeface="Helvetica"/>
              </a:rPr>
              <a:t>print(f'Registered: {registered.name} v{registered.version}')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64031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DC8"/>
                </a:solidFill>
                <a:latin typeface="Helvetic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Helvetica"/>
              </a:rPr>
              <a:t>STUDIO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0F4FF"/>
                </a:solidFill>
                <a:latin typeface="Helvetica"/>
              </a:rPr>
              <a:t>Azure ML Studio — Navigation Map for AI &amp; MLOps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228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365760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54480"/>
            <a:ext cx="36576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Helvetica"/>
              </a:rPr>
              <a:t>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All submitted 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Experiment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077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Job logs &amp;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10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Child runs (Sweep)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554480"/>
            <a:ext cx="365760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554480"/>
            <a:ext cx="3657600" cy="54864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6459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CF2"/>
                </a:solidFill>
                <a:latin typeface="Helvetica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031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Datastores (connections)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054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Data Assets (versioned)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9077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Upload &amp;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310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URI path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19" y="1554480"/>
            <a:ext cx="365760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19" y="1554480"/>
            <a:ext cx="3657600" cy="54864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9" y="16459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7C41"/>
                </a:solidFill>
                <a:latin typeface="Helvetica"/>
              </a:rPr>
              <a:t>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21031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Version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9" y="25054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Tags &amp; lineage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9" y="29077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Deploy endpoint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9" y="3310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Promote label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069080"/>
            <a:ext cx="365760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069080"/>
            <a:ext cx="36576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1605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  <a:latin typeface="Helvetica"/>
              </a:rPr>
              <a:t>Compute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617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Compute Instances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200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Compute Clusters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4223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Inference Clusters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24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Serverless compute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4069080"/>
            <a:ext cx="365760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4069080"/>
            <a:ext cx="3657600" cy="54864"/>
          </a:xfrm>
          <a:prstGeom prst="rect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41605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44DA9"/>
                </a:solidFill>
                <a:latin typeface="Helvetica"/>
              </a:rPr>
              <a:t>Environments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617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Curated (ready-to-use)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0200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Custom (yours)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4223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Build logs (ACR)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5824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Package details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19" y="4069080"/>
            <a:ext cx="365760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19" y="4069080"/>
            <a:ext cx="3657600" cy="54864"/>
          </a:xfrm>
          <a:prstGeom prst="rect">
            <a:avLst/>
          </a:prstGeom>
          <a:solidFill>
            <a:srgbClr val="C23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79" y="41605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239B3"/>
                </a:solidFill>
                <a:latin typeface="Helvetica"/>
              </a:rPr>
              <a:t>Endpoints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79" y="4617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Online (real-time API)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79" y="50200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Batch (large datasets)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79" y="54223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Deployment versions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79" y="5824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DC8"/>
                </a:solidFill>
                <a:latin typeface="Helvetica"/>
              </a:rPr>
              <a:t>  • Traffic splitting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4031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DC8"/>
                </a:solidFill>
                <a:latin typeface="Helvetic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56032"/>
            <a:ext cx="2011680" cy="29260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468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Helvetica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4FF"/>
                </a:solidFill>
                <a:latin typeface="Helvetica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65992" cy="228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54864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508760"/>
            <a:ext cx="11155680" cy="71323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78D4"/>
                </a:solidFill>
                <a:latin typeface="Helvetica"/>
              </a:rPr>
              <a:t>Cloud training removes all local resource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7452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AADC8"/>
                </a:solidFill>
                <a:latin typeface="Helvetica"/>
              </a:rPr>
              <a:t>Run 30 parallel trials on GPU/CPU clusters while you sleep — zero local overhead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86584"/>
            <a:ext cx="54864" cy="71323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386584"/>
            <a:ext cx="11155680" cy="71323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432304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BCF2"/>
                </a:solidFill>
                <a:latin typeface="Helvetica"/>
              </a:rPr>
              <a:t>mlflow.autolog() is your fastest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52344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AADC8"/>
                </a:solidFill>
                <a:latin typeface="Helvetica"/>
              </a:rPr>
              <a:t>One line captures all params, metrics, and the fitted model — no boilerplate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64408"/>
            <a:ext cx="54864" cy="713232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3264408"/>
            <a:ext cx="11155680" cy="71323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31012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07C41"/>
                </a:solidFill>
                <a:latin typeface="Helvetica"/>
              </a:rPr>
              <a:t>Sweep Jobs = Optuna at cloud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630168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AADC8"/>
                </a:solidFill>
                <a:latin typeface="Helvetica"/>
              </a:rPr>
              <a:t>Bayesian sampling + Bandit early termination → converges 5x faster than random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142232"/>
            <a:ext cx="54864" cy="7132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4142232"/>
            <a:ext cx="11155680" cy="71323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187952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8C00"/>
                </a:solidFill>
                <a:latin typeface="Helvetica"/>
              </a:rPr>
              <a:t>Environments enforce reproducibility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507992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AADC8"/>
                </a:solidFill>
                <a:latin typeface="Helvetica"/>
              </a:rPr>
              <a:t>Versioned Docker + conda spec, cached in ACR — same result 6 months later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020056"/>
            <a:ext cx="54864" cy="713232"/>
          </a:xfrm>
          <a:prstGeom prst="rect">
            <a:avLst/>
          </a:prstGeom>
          <a:solidFill>
            <a:srgbClr val="744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5020056"/>
            <a:ext cx="11155680" cy="71323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065776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744DA9"/>
                </a:solidFill>
                <a:latin typeface="Helvetica"/>
              </a:rPr>
              <a:t>Model Registry formalizes your promotion 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385816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AADC8"/>
                </a:solidFill>
                <a:latin typeface="Helvetica"/>
              </a:rPr>
              <a:t>experiment → staging → production with full lineage, tags, and audit trail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4031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DC8"/>
                </a:solidFill>
                <a:latin typeface="Helvetica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